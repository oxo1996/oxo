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handoutMasterIdLst>
    <p:handoutMasterId r:id="rId25"/>
  </p:handoutMasterIdLst>
  <p:sldIdLst>
    <p:sldId id="259" r:id="rId2"/>
    <p:sldId id="294" r:id="rId3"/>
    <p:sldId id="266" r:id="rId4"/>
    <p:sldId id="305" r:id="rId5"/>
    <p:sldId id="313" r:id="rId6"/>
    <p:sldId id="309" r:id="rId7"/>
    <p:sldId id="327" r:id="rId8"/>
    <p:sldId id="317" r:id="rId9"/>
    <p:sldId id="321" r:id="rId10"/>
    <p:sldId id="319" r:id="rId11"/>
    <p:sldId id="320" r:id="rId12"/>
    <p:sldId id="310" r:id="rId13"/>
    <p:sldId id="318" r:id="rId14"/>
    <p:sldId id="329" r:id="rId15"/>
    <p:sldId id="324" r:id="rId16"/>
    <p:sldId id="323" r:id="rId17"/>
    <p:sldId id="325" r:id="rId18"/>
    <p:sldId id="328" r:id="rId19"/>
    <p:sldId id="322" r:id="rId20"/>
    <p:sldId id="326" r:id="rId21"/>
    <p:sldId id="311" r:id="rId22"/>
    <p:sldId id="31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성민" initials="김" lastIdx="1" clrIdx="0">
    <p:extLst>
      <p:ext uri="{19B8F6BF-5375-455C-9EA6-DF929625EA0E}">
        <p15:presenceInfo xmlns:p15="http://schemas.microsoft.com/office/powerpoint/2012/main" userId="S::kimsm7337@cau.ac.kr::6290b669-ec2e-4098-8b96-ed367dd6aed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  <a:srgbClr val="FEFEF4"/>
    <a:srgbClr val="FDFDDF"/>
    <a:srgbClr val="525252"/>
    <a:srgbClr val="FCFBFA"/>
    <a:srgbClr val="F8F8F6"/>
    <a:srgbClr val="F4F3EE"/>
    <a:srgbClr val="E0E0D8"/>
    <a:srgbClr val="F4F3F2"/>
    <a:srgbClr val="F4F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96" y="221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984"/>
    </p:cViewPr>
  </p:sorterViewPr>
  <p:notesViewPr>
    <p:cSldViewPr snapToGrid="0" showGuides="1">
      <p:cViewPr varScale="1">
        <p:scale>
          <a:sx n="51" d="100"/>
          <a:sy n="51" d="100"/>
        </p:scale>
        <p:origin x="2624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513BA-3E82-4812-9926-DD5B40EAAC2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C2647-C259-4EB5-84B8-93A3F8E54DE7}" type="datetimeFigureOut">
              <a:rPr lang="ko-KR" altLang="en-US" smtClean="0"/>
              <a:t>2018-12-01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866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0BA11-FEDB-4E64-B4BE-9FDEE8123FE3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D56DB-D808-478E-8624-F84E557D34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90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2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12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0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35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360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168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417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879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1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52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15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1C398-EBCC-4210-8AFD-1D056CED0821}" type="datetimeFigureOut">
              <a:rPr lang="ko-KR" altLang="en-US" smtClean="0"/>
              <a:t>2018-12-01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9EC6C-4145-4527-B052-BF633A9807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0478F-8E5F-4F47-A1F2-76F3C50F715F}"/>
              </a:ext>
            </a:extLst>
          </p:cNvPr>
          <p:cNvSpPr txBox="1"/>
          <p:nvPr userDrawn="1"/>
        </p:nvSpPr>
        <p:spPr>
          <a:xfrm>
            <a:off x="9879006" y="6505575"/>
            <a:ext cx="2242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accent6"/>
                </a:solidFill>
                <a:latin typeface="+mn-ea"/>
              </a:rPr>
              <a:t>Copyrightⓒ. Saebyeol Yu. All Rights Reserved.</a:t>
            </a:r>
            <a:endParaRPr lang="ko-KR" altLang="en-US" sz="800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2504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879006" y="6505575"/>
            <a:ext cx="2242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accent6"/>
                </a:solidFill>
                <a:latin typeface="+mn-ea"/>
              </a:rPr>
              <a:t>Copyrightⓒ. Saebyeol Yu. All Rights Reserved.</a:t>
            </a:r>
            <a:endParaRPr lang="ko-KR" altLang="en-US" sz="800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1834B-6963-4CF1-B276-D41ECDDC34BB}"/>
              </a:ext>
            </a:extLst>
          </p:cNvPr>
          <p:cNvSpPr txBox="1"/>
          <p:nvPr/>
        </p:nvSpPr>
        <p:spPr>
          <a:xfrm>
            <a:off x="1179780" y="1222262"/>
            <a:ext cx="54509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spc="-300" dirty="0">
                <a:solidFill>
                  <a:schemeClr val="accent1">
                    <a:alpha val="70000"/>
                  </a:schemeClr>
                </a:solidFill>
              </a:rPr>
              <a:t>OOP</a:t>
            </a:r>
          </a:p>
          <a:p>
            <a:r>
              <a:rPr lang="en-US" altLang="ko-KR" sz="7200" b="1" spc="-300" dirty="0">
                <a:solidFill>
                  <a:schemeClr val="accent1">
                    <a:alpha val="70000"/>
                  </a:schemeClr>
                </a:solidFill>
              </a:rPr>
              <a:t>Team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1C8344-CF86-4390-B604-A44BE8C93330}"/>
              </a:ext>
            </a:extLst>
          </p:cNvPr>
          <p:cNvSpPr txBox="1"/>
          <p:nvPr/>
        </p:nvSpPr>
        <p:spPr>
          <a:xfrm>
            <a:off x="2880308" y="4403481"/>
            <a:ext cx="4705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조원희</a:t>
            </a:r>
            <a:r>
              <a:rPr lang="en-US" altLang="ko-KR" sz="36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, </a:t>
            </a:r>
            <a:r>
              <a:rPr lang="ko-KR" altLang="en-US" sz="36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성현</a:t>
            </a:r>
            <a:r>
              <a:rPr lang="en-US" altLang="ko-KR" sz="36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, </a:t>
            </a:r>
            <a:r>
              <a:rPr lang="ko-KR" altLang="en-US" sz="36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김성민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72C08-0E67-4C44-BD89-6FFF10075A34}"/>
              </a:ext>
            </a:extLst>
          </p:cNvPr>
          <p:cNvSpPr txBox="1"/>
          <p:nvPr/>
        </p:nvSpPr>
        <p:spPr>
          <a:xfrm>
            <a:off x="2814529" y="4330339"/>
            <a:ext cx="4705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조원희</a:t>
            </a:r>
            <a:r>
              <a:rPr lang="en-US" altLang="ko-KR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성현</a:t>
            </a:r>
            <a:r>
              <a:rPr lang="en-US" altLang="ko-KR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김성민</a:t>
            </a:r>
          </a:p>
        </p:txBody>
      </p:sp>
      <p:pic>
        <p:nvPicPr>
          <p:cNvPr id="1026" name="Picture 2" descr="Laptop icon">
            <a:extLst>
              <a:ext uri="{FF2B5EF4-FFF2-40B4-BE49-F238E27FC236}">
                <a16:creationId xmlns:a16="http://schemas.microsoft.com/office/drawing/2014/main" id="{01B03384-FC53-4AEC-A630-0DDC387A0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404" y="1334710"/>
            <a:ext cx="3189203" cy="318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74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38006" y="344708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grpSp>
        <p:nvGrpSpPr>
          <p:cNvPr id="8" name="그룹 7"/>
          <p:cNvGrpSpPr/>
          <p:nvPr/>
        </p:nvGrpSpPr>
        <p:grpSpPr>
          <a:xfrm>
            <a:off x="1914511" y="1859757"/>
            <a:ext cx="5742770" cy="2317854"/>
            <a:chOff x="1280802" y="897845"/>
            <a:chExt cx="3209120" cy="2141084"/>
          </a:xfrm>
        </p:grpSpPr>
        <p:grpSp>
          <p:nvGrpSpPr>
            <p:cNvPr id="11" name="그룹 10"/>
            <p:cNvGrpSpPr/>
            <p:nvPr/>
          </p:nvGrpSpPr>
          <p:grpSpPr>
            <a:xfrm>
              <a:off x="1280802" y="897845"/>
              <a:ext cx="3209120" cy="508648"/>
              <a:chOff x="1280802" y="947175"/>
              <a:chExt cx="3209120" cy="508648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1280802" y="947175"/>
                <a:ext cx="534105" cy="483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800" dirty="0">
                    <a:solidFill>
                      <a:schemeClr val="tx2"/>
                    </a:solidFill>
                  </a:rPr>
                  <a:t>001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1826144" y="972506"/>
                <a:ext cx="2663778" cy="483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spc="-150" dirty="0">
                    <a:solidFill>
                      <a:schemeClr val="tx2"/>
                    </a:solidFill>
                  </a:rPr>
                  <a:t>Program Description (+Video)</a:t>
                </a:r>
                <a:endParaRPr lang="ko-KR" altLang="en-US" sz="2800" spc="-15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13" name="그룹 12"/>
            <p:cNvGrpSpPr/>
            <p:nvPr/>
          </p:nvGrpSpPr>
          <p:grpSpPr>
            <a:xfrm>
              <a:off x="1280802" y="1690798"/>
              <a:ext cx="2849638" cy="483317"/>
              <a:chOff x="1722698" y="1692063"/>
              <a:chExt cx="2849638" cy="483317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722698" y="1692063"/>
                <a:ext cx="534105" cy="483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800" dirty="0">
                    <a:solidFill>
                      <a:schemeClr val="tx2"/>
                    </a:solidFill>
                  </a:rPr>
                  <a:t>002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268040" y="1692063"/>
                <a:ext cx="2304296" cy="483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800" dirty="0">
                    <a:solidFill>
                      <a:schemeClr val="tx2"/>
                    </a:solidFill>
                  </a:rPr>
                  <a:t>UML Class Diagram</a:t>
                </a:r>
                <a:endParaRPr lang="ko-KR" altLang="en-US" sz="2800" spc="-15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1280802" y="2430340"/>
              <a:ext cx="1798558" cy="608589"/>
              <a:chOff x="1449726" y="2460435"/>
              <a:chExt cx="1798558" cy="608589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1449726" y="2529737"/>
                <a:ext cx="534105" cy="483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800" dirty="0">
                    <a:solidFill>
                      <a:schemeClr val="tx2"/>
                    </a:solidFill>
                  </a:rPr>
                  <a:t>003</a:t>
                </a:r>
                <a:endParaRPr lang="ko-KR" altLang="en-US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995068" y="2460435"/>
                <a:ext cx="1253216" cy="6085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800" dirty="0">
                    <a:solidFill>
                      <a:schemeClr val="tx2"/>
                    </a:solidFill>
                  </a:rPr>
                  <a:t>Flow chart</a:t>
                </a:r>
              </a:p>
            </p:txBody>
          </p:sp>
        </p:grpSp>
      </p:grpSp>
      <p:sp>
        <p:nvSpPr>
          <p:cNvPr id="26" name="직각 삼각형 25"/>
          <p:cNvSpPr/>
          <p:nvPr/>
        </p:nvSpPr>
        <p:spPr>
          <a:xfrm flipH="1" flipV="1">
            <a:off x="8048846" y="0"/>
            <a:ext cx="4143153" cy="6821488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/>
        </p:nvCxnSpPr>
        <p:spPr>
          <a:xfrm>
            <a:off x="338006" y="724659"/>
            <a:ext cx="137409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22D6E88-20C2-4E77-80D4-E1B5FCC2DB37}"/>
              </a:ext>
            </a:extLst>
          </p:cNvPr>
          <p:cNvSpPr txBox="1"/>
          <p:nvPr/>
        </p:nvSpPr>
        <p:spPr>
          <a:xfrm>
            <a:off x="1914511" y="4530015"/>
            <a:ext cx="3116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2"/>
                </a:solidFill>
              </a:rPr>
              <a:t>004    Q&amp;A</a:t>
            </a:r>
            <a:endParaRPr lang="ko-KR" alt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86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89352" y="2285885"/>
            <a:ext cx="17091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dirty="0">
                <a:solidFill>
                  <a:schemeClr val="tx2"/>
                </a:solidFill>
              </a:rPr>
              <a:t>001</a:t>
            </a:r>
            <a:endParaRPr lang="ko-KR" altLang="en-US" sz="7200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34" y="3549402"/>
            <a:ext cx="3654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spc="-150" dirty="0">
                <a:solidFill>
                  <a:schemeClr val="tx2"/>
                </a:solidFill>
                <a:latin typeface="+mn-ea"/>
              </a:rPr>
              <a:t>Program Description</a:t>
            </a:r>
            <a:endParaRPr lang="ko-KR" altLang="en-US" sz="3200" spc="-1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9006" y="6505575"/>
            <a:ext cx="2242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accent6"/>
                </a:solidFill>
                <a:latin typeface="+mn-ea"/>
              </a:rPr>
              <a:t>Copyrightⓒ. Saebyeol Yu. All Rights Reserved.</a:t>
            </a:r>
            <a:endParaRPr lang="ko-KR" altLang="en-US" sz="800" dirty="0">
              <a:solidFill>
                <a:schemeClr val="accent6"/>
              </a:solidFill>
              <a:latin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489352" y="3392488"/>
            <a:ext cx="697470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Magnifier Glass icon">
            <a:extLst>
              <a:ext uri="{FF2B5EF4-FFF2-40B4-BE49-F238E27FC236}">
                <a16:creationId xmlns:a16="http://schemas.microsoft.com/office/drawing/2014/main" id="{ED07DC9B-C53E-4DEE-A0A3-885D14F28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9191">
            <a:off x="7712999" y="1410809"/>
            <a:ext cx="3654141" cy="365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Magnifier Glass icon">
            <a:extLst>
              <a:ext uri="{FF2B5EF4-FFF2-40B4-BE49-F238E27FC236}">
                <a16:creationId xmlns:a16="http://schemas.microsoft.com/office/drawing/2014/main" id="{25CCCA5D-95D3-442F-91A5-FC767083F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98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12"/>
                    </a14:imgEffect>
                    <a14:imgEffect>
                      <a14:saturation sat="86000"/>
                    </a14:imgEffect>
                    <a14:imgEffect>
                      <a14:brightnessContrast contrast="-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40299">
            <a:off x="6477043" y="1332780"/>
            <a:ext cx="3654141" cy="381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341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EA88F82C-E475-40A6-A09E-C5DF7B7DC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911" y="1506029"/>
            <a:ext cx="1096910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altLang="ko-KR" sz="2400" b="1" dirty="0"/>
              <a:t>Theme: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2400" dirty="0"/>
              <a:t>Computer hardware recommendation 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2400" b="1" dirty="0"/>
              <a:t>Goals: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2400" dirty="0"/>
              <a:t>1) Compatibility check and game performance analysis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2400" dirty="0"/>
              <a:t>2) Recommendation through game selection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2400" b="1" dirty="0"/>
              <a:t>Motivation: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2400" dirty="0"/>
              <a:t>Gaming takes utmost part in computer usage.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2400" dirty="0"/>
              <a:t>Reasonable custom computer purchase for both experts and newcomers.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DA5B3C1-7544-4A79-8804-0ED53DFF57E4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FE8768-220C-4566-8546-5964904EFF14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29BCA4-0C6E-4E6B-9329-524300286FCA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1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84201E-726F-44CA-9991-6096F0A8A82B}"/>
              </a:ext>
            </a:extLst>
          </p:cNvPr>
          <p:cNvSpPr txBox="1"/>
          <p:nvPr/>
        </p:nvSpPr>
        <p:spPr>
          <a:xfrm>
            <a:off x="1188881" y="351819"/>
            <a:ext cx="1582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Program Description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68159-4C78-4808-933E-CFDACB4DCFFB}"/>
              </a:ext>
            </a:extLst>
          </p:cNvPr>
          <p:cNvSpPr txBox="1"/>
          <p:nvPr/>
        </p:nvSpPr>
        <p:spPr>
          <a:xfrm>
            <a:off x="1188881" y="581361"/>
            <a:ext cx="27590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Program Description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75245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7200A5D-7358-493B-A7DC-795ECB26CD97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EC3B9-7D83-4108-A20E-030A0714A978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E6132D-5358-4DE3-9A7A-A463FC399953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1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AD264E-41B3-4140-A46A-F06E4FFDFC87}"/>
              </a:ext>
            </a:extLst>
          </p:cNvPr>
          <p:cNvSpPr txBox="1"/>
          <p:nvPr/>
        </p:nvSpPr>
        <p:spPr>
          <a:xfrm>
            <a:off x="1188881" y="351819"/>
            <a:ext cx="1582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Program Description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0E6407-C17B-4D42-B5AE-1A91E0634F72}"/>
              </a:ext>
            </a:extLst>
          </p:cNvPr>
          <p:cNvSpPr txBox="1"/>
          <p:nvPr/>
        </p:nvSpPr>
        <p:spPr>
          <a:xfrm>
            <a:off x="1188881" y="581361"/>
            <a:ext cx="9009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Video</a:t>
            </a:r>
            <a:endParaRPr lang="ko-KR" altLang="en-US" sz="2200" dirty="0"/>
          </a:p>
        </p:txBody>
      </p:sp>
      <p:pic>
        <p:nvPicPr>
          <p:cNvPr id="18" name="Picture 4" descr="Video Player icon">
            <a:extLst>
              <a:ext uri="{FF2B5EF4-FFF2-40B4-BE49-F238E27FC236}">
                <a16:creationId xmlns:a16="http://schemas.microsoft.com/office/drawing/2014/main" id="{B582A1D5-94E6-42F7-8096-1B3A796C2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  <a14:imgEffect>
                      <a14:colorTemperature colorTemp="5341"/>
                    </a14:imgEffect>
                    <a14:imgEffect>
                      <a14:saturation sat="0"/>
                    </a14:imgEffect>
                    <a14:imgEffect>
                      <a14:brightnessContrast bright="-24000" contrast="-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833" y="569105"/>
            <a:ext cx="546363" cy="54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38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6819097" y="168528"/>
            <a:ext cx="1828675" cy="6447919"/>
            <a:chOff x="6181143" y="583198"/>
            <a:chExt cx="1828675" cy="6447919"/>
          </a:xfrm>
        </p:grpSpPr>
        <p:sp>
          <p:nvSpPr>
            <p:cNvPr id="4" name="TextBox 3"/>
            <p:cNvSpPr txBox="1"/>
            <p:nvPr/>
          </p:nvSpPr>
          <p:spPr>
            <a:xfrm>
              <a:off x="7825087" y="583198"/>
              <a:ext cx="184731" cy="6447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1300" spc="-150" dirty="0">
                <a:solidFill>
                  <a:schemeClr val="accent4">
                    <a:alpha val="20000"/>
                  </a:schemeClr>
                </a:solidFill>
                <a:ea typeface="+mj-ea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181143" y="583198"/>
              <a:ext cx="184731" cy="6447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1300" spc="-150" dirty="0">
                <a:solidFill>
                  <a:schemeClr val="accent2">
                    <a:alpha val="60000"/>
                  </a:schemeClr>
                </a:solidFill>
                <a:ea typeface="+mj-ea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89352" y="2285885"/>
            <a:ext cx="17235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dirty="0">
                <a:solidFill>
                  <a:schemeClr val="tx2"/>
                </a:solidFill>
              </a:rPr>
              <a:t>002</a:t>
            </a:r>
            <a:endParaRPr lang="ko-KR" altLang="en-US" sz="7200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33" y="3549402"/>
            <a:ext cx="391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spc="-150" dirty="0">
                <a:solidFill>
                  <a:schemeClr val="tx2"/>
                </a:solidFill>
                <a:latin typeface="+mn-ea"/>
              </a:rPr>
              <a:t>UML Class Diagram</a:t>
            </a:r>
            <a:endParaRPr lang="ko-KR" altLang="en-US" sz="3200" spc="-1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9006" y="6505575"/>
            <a:ext cx="2242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accent6"/>
                </a:solidFill>
                <a:latin typeface="+mn-ea"/>
              </a:rPr>
              <a:t>Copyrightⓒ. Saebyeol Yu. All Rights Reserved.</a:t>
            </a:r>
            <a:endParaRPr lang="ko-KR" altLang="en-US" sz="800" dirty="0">
              <a:solidFill>
                <a:schemeClr val="accent6"/>
              </a:solidFill>
              <a:latin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489352" y="3392488"/>
            <a:ext cx="697470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Site Map icon">
            <a:extLst>
              <a:ext uri="{FF2B5EF4-FFF2-40B4-BE49-F238E27FC236}">
                <a16:creationId xmlns:a16="http://schemas.microsoft.com/office/drawing/2014/main" id="{DC5D380C-75FA-4AF8-AD06-6D1024C12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922" y="1314297"/>
            <a:ext cx="3819678" cy="3819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08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23B9AC1-8F84-449B-A7C3-884C1901311C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044580-7AAA-40B3-8961-10E7B1D4DE1C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21135-B9A9-475E-89E4-F278D2569FC9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2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7B0DE-9C0E-45FD-869F-904594BDB262}"/>
              </a:ext>
            </a:extLst>
          </p:cNvPr>
          <p:cNvSpPr txBox="1"/>
          <p:nvPr/>
        </p:nvSpPr>
        <p:spPr>
          <a:xfrm>
            <a:off x="1188881" y="351819"/>
            <a:ext cx="1551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UML Class Diagram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A30E4E-1F2A-4530-8388-51F5ED59663A}"/>
              </a:ext>
            </a:extLst>
          </p:cNvPr>
          <p:cNvSpPr txBox="1"/>
          <p:nvPr/>
        </p:nvSpPr>
        <p:spPr>
          <a:xfrm>
            <a:off x="1188881" y="581361"/>
            <a:ext cx="7809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UML</a:t>
            </a:r>
            <a:endParaRPr lang="ko-KR" altLang="en-US" sz="22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DD9BB4-AD06-45A0-BCDF-3D3F4A3E4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9" y="1241790"/>
            <a:ext cx="11031201" cy="4995489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B1D8506-621E-4742-9670-576A596AB3B2}"/>
              </a:ext>
            </a:extLst>
          </p:cNvPr>
          <p:cNvCxnSpPr/>
          <p:nvPr/>
        </p:nvCxnSpPr>
        <p:spPr>
          <a:xfrm>
            <a:off x="6096000" y="4385569"/>
            <a:ext cx="0" cy="399495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다이아몬드 8">
            <a:extLst>
              <a:ext uri="{FF2B5EF4-FFF2-40B4-BE49-F238E27FC236}">
                <a16:creationId xmlns:a16="http://schemas.microsoft.com/office/drawing/2014/main" id="{BB31AED6-99EC-4E2D-B030-4DDBDF0CFC2D}"/>
              </a:ext>
            </a:extLst>
          </p:cNvPr>
          <p:cNvSpPr/>
          <p:nvPr/>
        </p:nvSpPr>
        <p:spPr>
          <a:xfrm>
            <a:off x="6042733" y="4270159"/>
            <a:ext cx="106531" cy="115410"/>
          </a:xfrm>
          <a:prstGeom prst="diamond">
            <a:avLst/>
          </a:prstGeom>
          <a:solidFill>
            <a:schemeClr val="bg1">
              <a:alpha val="7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2B47E79-5B85-4856-832C-225FF642DABD}"/>
              </a:ext>
            </a:extLst>
          </p:cNvPr>
          <p:cNvCxnSpPr>
            <a:cxnSpLocks/>
          </p:cNvCxnSpPr>
          <p:nvPr/>
        </p:nvCxnSpPr>
        <p:spPr>
          <a:xfrm>
            <a:off x="5626963" y="3655380"/>
            <a:ext cx="0" cy="206406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DAC4F89E-B77E-473E-8C42-EF995BA50331}"/>
              </a:ext>
            </a:extLst>
          </p:cNvPr>
          <p:cNvSpPr/>
          <p:nvPr/>
        </p:nvSpPr>
        <p:spPr>
          <a:xfrm>
            <a:off x="5573696" y="3539970"/>
            <a:ext cx="106531" cy="115410"/>
          </a:xfrm>
          <a:prstGeom prst="diamond">
            <a:avLst/>
          </a:prstGeom>
          <a:solidFill>
            <a:schemeClr val="tx1">
              <a:alpha val="7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3055537-9F79-4E06-BAE8-5AA7B428594C}"/>
              </a:ext>
            </a:extLst>
          </p:cNvPr>
          <p:cNvCxnSpPr>
            <a:cxnSpLocks/>
          </p:cNvCxnSpPr>
          <p:nvPr/>
        </p:nvCxnSpPr>
        <p:spPr>
          <a:xfrm>
            <a:off x="4909351" y="3655380"/>
            <a:ext cx="0" cy="206406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다이아몬드 15">
            <a:extLst>
              <a:ext uri="{FF2B5EF4-FFF2-40B4-BE49-F238E27FC236}">
                <a16:creationId xmlns:a16="http://schemas.microsoft.com/office/drawing/2014/main" id="{12AE88C2-0DF7-44B1-8BC6-0C1B8D67E445}"/>
              </a:ext>
            </a:extLst>
          </p:cNvPr>
          <p:cNvSpPr/>
          <p:nvPr/>
        </p:nvSpPr>
        <p:spPr>
          <a:xfrm>
            <a:off x="4856084" y="3539970"/>
            <a:ext cx="106531" cy="115410"/>
          </a:xfrm>
          <a:prstGeom prst="diamond">
            <a:avLst/>
          </a:prstGeom>
          <a:solidFill>
            <a:schemeClr val="tx1">
              <a:alpha val="7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A1A64FE-6DFE-4A68-B563-D31D0C6EB537}"/>
              </a:ext>
            </a:extLst>
          </p:cNvPr>
          <p:cNvCxnSpPr>
            <a:cxnSpLocks/>
          </p:cNvCxnSpPr>
          <p:nvPr/>
        </p:nvCxnSpPr>
        <p:spPr>
          <a:xfrm>
            <a:off x="5344357" y="2083245"/>
            <a:ext cx="0" cy="1039334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F8B987BB-9E5E-4196-9991-D8322CE68D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83612" y="3425622"/>
            <a:ext cx="1919731" cy="178475"/>
          </a:xfrm>
          <a:prstGeom prst="bentConnector3">
            <a:avLst>
              <a:gd name="adj1" fmla="val -165"/>
            </a:avLst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343C527-8546-45F4-8382-4A2F98EAFC64}"/>
              </a:ext>
            </a:extLst>
          </p:cNvPr>
          <p:cNvCxnSpPr/>
          <p:nvPr/>
        </p:nvCxnSpPr>
        <p:spPr>
          <a:xfrm flipH="1">
            <a:off x="8654240" y="4474725"/>
            <a:ext cx="18482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808594A-4A85-4B96-910A-67F3D32D1F5F}"/>
              </a:ext>
            </a:extLst>
          </p:cNvPr>
          <p:cNvCxnSpPr/>
          <p:nvPr/>
        </p:nvCxnSpPr>
        <p:spPr>
          <a:xfrm>
            <a:off x="8832715" y="2554994"/>
            <a:ext cx="1527242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0C8C031-8776-45FC-90AF-24F9B7B773D4}"/>
              </a:ext>
            </a:extLst>
          </p:cNvPr>
          <p:cNvCxnSpPr/>
          <p:nvPr/>
        </p:nvCxnSpPr>
        <p:spPr>
          <a:xfrm>
            <a:off x="10359957" y="2554994"/>
            <a:ext cx="0" cy="1919731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9FD58F8-9AE0-424B-AFA0-3DD767652388}"/>
              </a:ext>
            </a:extLst>
          </p:cNvPr>
          <p:cNvCxnSpPr/>
          <p:nvPr/>
        </p:nvCxnSpPr>
        <p:spPr>
          <a:xfrm>
            <a:off x="10097311" y="4474725"/>
            <a:ext cx="26264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F85C5CE-8569-4461-A1ED-BA444DF95AA1}"/>
              </a:ext>
            </a:extLst>
          </p:cNvPr>
          <p:cNvCxnSpPr/>
          <p:nvPr/>
        </p:nvCxnSpPr>
        <p:spPr>
          <a:xfrm>
            <a:off x="5924145" y="1877438"/>
            <a:ext cx="107977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F22B98F-39E7-454E-B611-9428B5388CF4}"/>
              </a:ext>
            </a:extLst>
          </p:cNvPr>
          <p:cNvCxnSpPr/>
          <p:nvPr/>
        </p:nvCxnSpPr>
        <p:spPr>
          <a:xfrm>
            <a:off x="7003915" y="1877438"/>
            <a:ext cx="0" cy="3103124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6932FAC-62A4-49CD-B09A-3E1A5777F0DA}"/>
              </a:ext>
            </a:extLst>
          </p:cNvPr>
          <p:cNvCxnSpPr/>
          <p:nvPr/>
        </p:nvCxnSpPr>
        <p:spPr>
          <a:xfrm>
            <a:off x="7003915" y="4980562"/>
            <a:ext cx="257783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5A868C35-32CE-48C3-BF1E-40DD6A0B5678}"/>
              </a:ext>
            </a:extLst>
          </p:cNvPr>
          <p:cNvCxnSpPr/>
          <p:nvPr/>
        </p:nvCxnSpPr>
        <p:spPr>
          <a:xfrm>
            <a:off x="8112868" y="4697515"/>
            <a:ext cx="0" cy="283047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3881D1F-3D54-4D44-9476-E026B3097BD9}"/>
              </a:ext>
            </a:extLst>
          </p:cNvPr>
          <p:cNvCxnSpPr/>
          <p:nvPr/>
        </p:nvCxnSpPr>
        <p:spPr>
          <a:xfrm>
            <a:off x="9578502" y="4697515"/>
            <a:ext cx="0" cy="283047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5599494B-EB32-43BD-9D87-D83B609BB7F6}"/>
              </a:ext>
            </a:extLst>
          </p:cNvPr>
          <p:cNvCxnSpPr>
            <a:cxnSpLocks/>
          </p:cNvCxnSpPr>
          <p:nvPr/>
        </p:nvCxnSpPr>
        <p:spPr>
          <a:xfrm flipH="1">
            <a:off x="7003915" y="2554994"/>
            <a:ext cx="53177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524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23B9AC1-8F84-449B-A7C3-884C1901311C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044580-7AAA-40B3-8961-10E7B1D4DE1C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21135-B9A9-475E-89E4-F278D2569FC9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2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7B0DE-9C0E-45FD-869F-904594BDB262}"/>
              </a:ext>
            </a:extLst>
          </p:cNvPr>
          <p:cNvSpPr txBox="1"/>
          <p:nvPr/>
        </p:nvSpPr>
        <p:spPr>
          <a:xfrm>
            <a:off x="1188881" y="351819"/>
            <a:ext cx="1551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UML Class Diagram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3C9B03-6511-4A4E-9CA9-9CC5F6286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13" y="1290984"/>
            <a:ext cx="10288827" cy="49856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A30E4E-1F2A-4530-8388-51F5ED59663A}"/>
              </a:ext>
            </a:extLst>
          </p:cNvPr>
          <p:cNvSpPr txBox="1"/>
          <p:nvPr/>
        </p:nvSpPr>
        <p:spPr>
          <a:xfrm>
            <a:off x="1188881" y="581361"/>
            <a:ext cx="25074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Class related Data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330125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23B9AC1-8F84-449B-A7C3-884C1901311C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044580-7AAA-40B3-8961-10E7B1D4DE1C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21135-B9A9-475E-89E4-F278D2569FC9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2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9BCBE08-41AC-4DE6-8BAF-0407EE726BDD}"/>
              </a:ext>
            </a:extLst>
          </p:cNvPr>
          <p:cNvGrpSpPr/>
          <p:nvPr/>
        </p:nvGrpSpPr>
        <p:grpSpPr>
          <a:xfrm>
            <a:off x="1188881" y="351819"/>
            <a:ext cx="2507418" cy="660429"/>
            <a:chOff x="1188881" y="351819"/>
            <a:chExt cx="2507418" cy="6604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D7B0DE-9C0E-45FD-869F-904594BDB262}"/>
                </a:ext>
              </a:extLst>
            </p:cNvPr>
            <p:cNvSpPr txBox="1"/>
            <p:nvPr/>
          </p:nvSpPr>
          <p:spPr>
            <a:xfrm>
              <a:off x="1188881" y="351819"/>
              <a:ext cx="15511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UML Class Diagram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0D8BC0-4C9B-4006-926E-7D56A9B7CC71}"/>
                </a:ext>
              </a:extLst>
            </p:cNvPr>
            <p:cNvSpPr txBox="1"/>
            <p:nvPr/>
          </p:nvSpPr>
          <p:spPr>
            <a:xfrm>
              <a:off x="1188881" y="581361"/>
              <a:ext cx="250741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/>
                <a:t>Class related Data</a:t>
              </a:r>
              <a:endParaRPr lang="ko-KR" altLang="en-US" sz="2200" dirty="0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2ED6CFE4-6337-4CB9-84A4-64E6F1F32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368" y="2652068"/>
            <a:ext cx="1862844" cy="25477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396486-DF3F-4BFF-A889-D56CC7A80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536" y="1318949"/>
            <a:ext cx="1943100" cy="485775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A777CC2-74AC-42E2-8FE8-702547B5B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75" y="3045568"/>
            <a:ext cx="1977556" cy="313113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AE16155-9E58-456A-89DC-7FC06D874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949" y="1012248"/>
            <a:ext cx="2228850" cy="287655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688777A-0053-4C18-8B4B-5EDC01D8742B}"/>
              </a:ext>
            </a:extLst>
          </p:cNvPr>
          <p:cNvCxnSpPr/>
          <p:nvPr/>
        </p:nvCxnSpPr>
        <p:spPr>
          <a:xfrm>
            <a:off x="4898212" y="4620638"/>
            <a:ext cx="38943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6319C79-C0E9-496D-A6CC-FD3C6D440CE5}"/>
              </a:ext>
            </a:extLst>
          </p:cNvPr>
          <p:cNvCxnSpPr/>
          <p:nvPr/>
        </p:nvCxnSpPr>
        <p:spPr>
          <a:xfrm>
            <a:off x="6838545" y="4002612"/>
            <a:ext cx="0" cy="618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다이아몬드 20">
            <a:extLst>
              <a:ext uri="{FF2B5EF4-FFF2-40B4-BE49-F238E27FC236}">
                <a16:creationId xmlns:a16="http://schemas.microsoft.com/office/drawing/2014/main" id="{07FB9128-A82F-4C41-99D7-0684C9E6E7DA}"/>
              </a:ext>
            </a:extLst>
          </p:cNvPr>
          <p:cNvSpPr/>
          <p:nvPr/>
        </p:nvSpPr>
        <p:spPr>
          <a:xfrm>
            <a:off x="6750996" y="3888795"/>
            <a:ext cx="178696" cy="152700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7CA9764-15F2-4FFF-AA4F-F019FDBC34A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202631" y="4611134"/>
            <a:ext cx="741591" cy="9504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다이아몬드 24">
            <a:extLst>
              <a:ext uri="{FF2B5EF4-FFF2-40B4-BE49-F238E27FC236}">
                <a16:creationId xmlns:a16="http://schemas.microsoft.com/office/drawing/2014/main" id="{EEF9C2AD-23E7-4E81-84FB-37CDBF21D987}"/>
              </a:ext>
            </a:extLst>
          </p:cNvPr>
          <p:cNvSpPr/>
          <p:nvPr/>
        </p:nvSpPr>
        <p:spPr>
          <a:xfrm>
            <a:off x="2885829" y="4528113"/>
            <a:ext cx="165708" cy="185049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34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23B9AC1-8F84-449B-A7C3-884C1901311C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044580-7AAA-40B3-8961-10E7B1D4DE1C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21135-B9A9-475E-89E4-F278D2569FC9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2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9BCBE08-41AC-4DE6-8BAF-0407EE726BDD}"/>
              </a:ext>
            </a:extLst>
          </p:cNvPr>
          <p:cNvGrpSpPr/>
          <p:nvPr/>
        </p:nvGrpSpPr>
        <p:grpSpPr>
          <a:xfrm>
            <a:off x="1188881" y="351819"/>
            <a:ext cx="3244799" cy="660429"/>
            <a:chOff x="1188881" y="351819"/>
            <a:chExt cx="3244799" cy="6604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D7B0DE-9C0E-45FD-869F-904594BDB262}"/>
                </a:ext>
              </a:extLst>
            </p:cNvPr>
            <p:cNvSpPr txBox="1"/>
            <p:nvPr/>
          </p:nvSpPr>
          <p:spPr>
            <a:xfrm>
              <a:off x="1188881" y="351819"/>
              <a:ext cx="15511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UML Class Diagram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0D8BC0-4C9B-4006-926E-7D56A9B7CC71}"/>
                </a:ext>
              </a:extLst>
            </p:cNvPr>
            <p:cNvSpPr txBox="1"/>
            <p:nvPr/>
          </p:nvSpPr>
          <p:spPr>
            <a:xfrm>
              <a:off x="1188881" y="581361"/>
              <a:ext cx="324479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/>
                <a:t>Class related Part select</a:t>
              </a:r>
              <a:endParaRPr lang="ko-KR" altLang="en-US" sz="2200" dirty="0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CB3DD7C9-CDF6-480E-BB3F-23CBA0D0C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57" y="4002024"/>
            <a:ext cx="1969348" cy="242438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A3F2F8E-BB69-4AA2-A634-74383252D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262" y="3863864"/>
            <a:ext cx="2183038" cy="270070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0848CB9-E744-407F-8970-905774DB4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903" y="1207949"/>
            <a:ext cx="1900753" cy="180377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CE17B1F-26D6-4480-B077-505E2C808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278" y="796804"/>
            <a:ext cx="2405131" cy="261613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9817F61-BC58-451F-8618-D240145055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7115" y="2131694"/>
            <a:ext cx="1824319" cy="270070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DF45686-6F43-46E1-B57C-7403A6340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53" y="2430697"/>
            <a:ext cx="1629244" cy="2102700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ACB94CD-4147-4D06-8E47-F0D18F228D86}"/>
              </a:ext>
            </a:extLst>
          </p:cNvPr>
          <p:cNvCxnSpPr>
            <a:stCxn id="19" idx="1"/>
            <a:endCxn id="21" idx="3"/>
          </p:cNvCxnSpPr>
          <p:nvPr/>
        </p:nvCxnSpPr>
        <p:spPr>
          <a:xfrm flipH="1" flipV="1">
            <a:off x="2157897" y="3482047"/>
            <a:ext cx="819218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9662147-E72F-4DE7-B1BE-72C277CCD007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4801434" y="2104871"/>
            <a:ext cx="1030844" cy="149559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C453DF2-A55F-47BB-AFE8-DB8FE8C650EE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801434" y="3661537"/>
            <a:ext cx="1092828" cy="155268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A4F7FB0-A86A-423C-AF73-E74D59BAE863}"/>
              </a:ext>
            </a:extLst>
          </p:cNvPr>
          <p:cNvCxnSpPr>
            <a:stCxn id="18" idx="3"/>
            <a:endCxn id="17" idx="1"/>
          </p:cNvCxnSpPr>
          <p:nvPr/>
        </p:nvCxnSpPr>
        <p:spPr>
          <a:xfrm>
            <a:off x="8237409" y="2104871"/>
            <a:ext cx="919494" cy="4966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A9AFEB6-BFB5-4756-886E-79121E0EF311}"/>
              </a:ext>
            </a:extLst>
          </p:cNvPr>
          <p:cNvCxnSpPr>
            <a:stCxn id="17" idx="1"/>
            <a:endCxn id="17" idx="1"/>
          </p:cNvCxnSpPr>
          <p:nvPr/>
        </p:nvCxnSpPr>
        <p:spPr>
          <a:xfrm>
            <a:off x="9156903" y="210983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E5F9515E-F83E-476D-9D43-1B94F14B3AEA}"/>
              </a:ext>
            </a:extLst>
          </p:cNvPr>
          <p:cNvSpPr/>
          <p:nvPr/>
        </p:nvSpPr>
        <p:spPr>
          <a:xfrm rot="5400000">
            <a:off x="8991936" y="2043771"/>
            <a:ext cx="189349" cy="122201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62A5DB0-5133-42F8-A921-5EAE4BCFDDC2}"/>
              </a:ext>
            </a:extLst>
          </p:cNvPr>
          <p:cNvCxnSpPr>
            <a:stCxn id="16" idx="3"/>
            <a:endCxn id="15" idx="1"/>
          </p:cNvCxnSpPr>
          <p:nvPr/>
        </p:nvCxnSpPr>
        <p:spPr>
          <a:xfrm>
            <a:off x="8077300" y="5214218"/>
            <a:ext cx="1128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32777660-A079-4EA4-8BFF-416CDB21B74E}"/>
              </a:ext>
            </a:extLst>
          </p:cNvPr>
          <p:cNvSpPr/>
          <p:nvPr/>
        </p:nvSpPr>
        <p:spPr>
          <a:xfrm rot="5400000">
            <a:off x="9049780" y="5153117"/>
            <a:ext cx="189350" cy="12220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9E875432-6B88-4805-BC7F-8E0107BF151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034844" y="3412937"/>
            <a:ext cx="0" cy="4509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822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23B9AC1-8F84-449B-A7C3-884C1901311C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044580-7AAA-40B3-8961-10E7B1D4DE1C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21135-B9A9-475E-89E4-F278D2569FC9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2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9BCBE08-41AC-4DE6-8BAF-0407EE726BDD}"/>
              </a:ext>
            </a:extLst>
          </p:cNvPr>
          <p:cNvGrpSpPr/>
          <p:nvPr/>
        </p:nvGrpSpPr>
        <p:grpSpPr>
          <a:xfrm>
            <a:off x="1188881" y="351819"/>
            <a:ext cx="3496470" cy="660429"/>
            <a:chOff x="1188881" y="351819"/>
            <a:chExt cx="3496470" cy="6604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D7B0DE-9C0E-45FD-869F-904594BDB262}"/>
                </a:ext>
              </a:extLst>
            </p:cNvPr>
            <p:cNvSpPr txBox="1"/>
            <p:nvPr/>
          </p:nvSpPr>
          <p:spPr>
            <a:xfrm>
              <a:off x="1188881" y="351819"/>
              <a:ext cx="15511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UML Class Diagram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0D8BC0-4C9B-4006-926E-7D56A9B7CC71}"/>
                </a:ext>
              </a:extLst>
            </p:cNvPr>
            <p:cNvSpPr txBox="1"/>
            <p:nvPr/>
          </p:nvSpPr>
          <p:spPr>
            <a:xfrm>
              <a:off x="1188881" y="581361"/>
              <a:ext cx="34964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/>
                <a:t>Class related Game select</a:t>
              </a:r>
              <a:endParaRPr lang="ko-KR" altLang="en-US" sz="2200" dirty="0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3D30F01-5FB6-411E-8E5F-2B1376A6E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0" y="2409586"/>
            <a:ext cx="1851465" cy="23894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B5E740-A217-412F-ACC4-F32503144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928" y="2341492"/>
            <a:ext cx="1706093" cy="252568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E8B2AC1-A4F1-4104-8076-019B3DBB9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897" y="4010921"/>
            <a:ext cx="2088943" cy="220763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E14D391-B2FD-4908-B70D-C543942F1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279" y="863051"/>
            <a:ext cx="2088943" cy="220763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ABA0072-16AF-455B-A0C7-7D66675F5C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421" y="456254"/>
            <a:ext cx="1706093" cy="30212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08FC63-0614-488B-8BD6-C5707B5D13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8421" y="3759169"/>
            <a:ext cx="1706988" cy="2851447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3E94835-7EDC-439B-8E7A-38E7EA973C62}"/>
              </a:ext>
            </a:extLst>
          </p:cNvPr>
          <p:cNvCxnSpPr>
            <a:cxnSpLocks/>
            <a:stCxn id="12" idx="1"/>
            <a:endCxn id="10" idx="3"/>
          </p:cNvCxnSpPr>
          <p:nvPr/>
        </p:nvCxnSpPr>
        <p:spPr>
          <a:xfrm flipH="1">
            <a:off x="2600905" y="3604335"/>
            <a:ext cx="97002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CD29E72-37C7-4F53-BD44-D81672DC4CC5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277021" y="1966868"/>
            <a:ext cx="1231400" cy="163746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48569BD-FB32-4748-B315-A1B3E4B6A736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5277021" y="3604335"/>
            <a:ext cx="1231400" cy="15805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8F7E95D-C077-4F79-980C-3E8CF40C3B71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>
            <a:off x="7361468" y="3477482"/>
            <a:ext cx="447" cy="281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7CDD63C-1FCD-42D1-99D6-FAD0C4AF39A8}"/>
              </a:ext>
            </a:extLst>
          </p:cNvPr>
          <p:cNvCxnSpPr>
            <a:cxnSpLocks/>
            <a:stCxn id="13" idx="3"/>
            <a:endCxn id="3" idx="1"/>
          </p:cNvCxnSpPr>
          <p:nvPr/>
        </p:nvCxnSpPr>
        <p:spPr>
          <a:xfrm>
            <a:off x="8214514" y="1966868"/>
            <a:ext cx="1169765" cy="0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40BC4132-D9CE-4515-984A-4A839280D25C}"/>
              </a:ext>
            </a:extLst>
          </p:cNvPr>
          <p:cNvSpPr/>
          <p:nvPr/>
        </p:nvSpPr>
        <p:spPr>
          <a:xfrm rot="5400000">
            <a:off x="9256655" y="1905766"/>
            <a:ext cx="189349" cy="122201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C39AA74-2B05-4294-94D2-F7A092BED7DC}"/>
              </a:ext>
            </a:extLst>
          </p:cNvPr>
          <p:cNvCxnSpPr>
            <a:cxnSpLocks/>
          </p:cNvCxnSpPr>
          <p:nvPr/>
        </p:nvCxnSpPr>
        <p:spPr>
          <a:xfrm>
            <a:off x="8165169" y="5184893"/>
            <a:ext cx="1169765" cy="0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5C4775B2-D0CB-489D-8365-961E61F711A5}"/>
              </a:ext>
            </a:extLst>
          </p:cNvPr>
          <p:cNvSpPr/>
          <p:nvPr/>
        </p:nvSpPr>
        <p:spPr>
          <a:xfrm rot="5400000">
            <a:off x="9207310" y="5123791"/>
            <a:ext cx="189349" cy="122201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69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6819097" y="168528"/>
            <a:ext cx="1828675" cy="6447919"/>
            <a:chOff x="6181143" y="583198"/>
            <a:chExt cx="1828675" cy="6447919"/>
          </a:xfrm>
        </p:grpSpPr>
        <p:sp>
          <p:nvSpPr>
            <p:cNvPr id="4" name="TextBox 3"/>
            <p:cNvSpPr txBox="1"/>
            <p:nvPr/>
          </p:nvSpPr>
          <p:spPr>
            <a:xfrm>
              <a:off x="7825087" y="583198"/>
              <a:ext cx="184731" cy="6447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1300" spc="-150" dirty="0">
                <a:solidFill>
                  <a:schemeClr val="accent4">
                    <a:alpha val="20000"/>
                  </a:schemeClr>
                </a:solidFill>
                <a:ea typeface="+mj-ea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181143" y="583198"/>
              <a:ext cx="184731" cy="6447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41300" spc="-150" dirty="0">
                <a:solidFill>
                  <a:schemeClr val="accent2">
                    <a:alpha val="60000"/>
                  </a:schemeClr>
                </a:solidFill>
                <a:ea typeface="+mj-ea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89352" y="2285885"/>
            <a:ext cx="17235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dirty="0">
                <a:solidFill>
                  <a:schemeClr val="tx2"/>
                </a:solidFill>
              </a:rPr>
              <a:t>003</a:t>
            </a:r>
            <a:endParaRPr lang="ko-KR" altLang="en-US" sz="7200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33" y="3549402"/>
            <a:ext cx="391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spc="-150" dirty="0">
                <a:solidFill>
                  <a:schemeClr val="tx2"/>
                </a:solidFill>
                <a:latin typeface="+mn-ea"/>
              </a:rPr>
              <a:t>Flow Chart</a:t>
            </a:r>
            <a:endParaRPr lang="ko-KR" altLang="en-US" sz="3200" spc="-1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9006" y="6505575"/>
            <a:ext cx="2242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accent6"/>
                </a:solidFill>
                <a:latin typeface="+mn-ea"/>
              </a:rPr>
              <a:t>Copyrightⓒ. Saebyeol Yu. All Rights Reserved.</a:t>
            </a:r>
            <a:endParaRPr lang="ko-KR" altLang="en-US" sz="800" dirty="0">
              <a:solidFill>
                <a:schemeClr val="accent6"/>
              </a:solidFill>
              <a:latin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489352" y="3392488"/>
            <a:ext cx="697470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algorithm iconì ëí ì´ë¯¸ì§ ê²ìê²°ê³¼">
            <a:extLst>
              <a:ext uri="{FF2B5EF4-FFF2-40B4-BE49-F238E27FC236}">
                <a16:creationId xmlns:a16="http://schemas.microsoft.com/office/drawing/2014/main" id="{A24F9F8A-8088-43D7-9D9C-AEB8C8E86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301" y="673203"/>
            <a:ext cx="4870347" cy="541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133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1B9F28-A662-416B-BBC6-39C5B0C5B4EE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12804-F75C-4223-A396-14E7CCC31F4F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2316-0987-4900-8188-32417EF32792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4EE588-397E-45E1-8C45-13EE642C0960}"/>
              </a:ext>
            </a:extLst>
          </p:cNvPr>
          <p:cNvGrpSpPr/>
          <p:nvPr/>
        </p:nvGrpSpPr>
        <p:grpSpPr>
          <a:xfrm>
            <a:off x="1188881" y="351819"/>
            <a:ext cx="2225289" cy="660429"/>
            <a:chOff x="1188881" y="351819"/>
            <a:chExt cx="2225289" cy="6604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B5237B-9EFE-44F1-9644-6753CD4DFF8E}"/>
                </a:ext>
              </a:extLst>
            </p:cNvPr>
            <p:cNvSpPr txBox="1"/>
            <p:nvPr/>
          </p:nvSpPr>
          <p:spPr>
            <a:xfrm>
              <a:off x="1188881" y="351819"/>
              <a:ext cx="893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Flow chart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AE6C9B-74CD-436C-91B6-5359E2E14095}"/>
                </a:ext>
              </a:extLst>
            </p:cNvPr>
            <p:cNvSpPr txBox="1"/>
            <p:nvPr/>
          </p:nvSpPr>
          <p:spPr>
            <a:xfrm>
              <a:off x="1188881" y="581361"/>
              <a:ext cx="22252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/>
                <a:t>Flow Chart Start</a:t>
              </a:r>
              <a:endParaRPr lang="ko-KR" altLang="en-US" sz="2200" dirty="0"/>
            </a:p>
          </p:txBody>
        </p:sp>
      </p:grp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F8DC6620-064E-4A42-9DD7-90081E2F11E1}"/>
              </a:ext>
            </a:extLst>
          </p:cNvPr>
          <p:cNvSpPr/>
          <p:nvPr/>
        </p:nvSpPr>
        <p:spPr>
          <a:xfrm>
            <a:off x="4282633" y="1241790"/>
            <a:ext cx="3009417" cy="1099584"/>
          </a:xfrm>
          <a:prstGeom prst="flowChartAlternate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프로그램 시작</a:t>
            </a:r>
          </a:p>
        </p:txBody>
      </p:sp>
      <p:sp>
        <p:nvSpPr>
          <p:cNvPr id="3" name="순서도: 판단 2">
            <a:extLst>
              <a:ext uri="{FF2B5EF4-FFF2-40B4-BE49-F238E27FC236}">
                <a16:creationId xmlns:a16="http://schemas.microsoft.com/office/drawing/2014/main" id="{4CB533D9-B9BA-4337-B3E9-D4F018818689}"/>
              </a:ext>
            </a:extLst>
          </p:cNvPr>
          <p:cNvSpPr/>
          <p:nvPr/>
        </p:nvSpPr>
        <p:spPr>
          <a:xfrm>
            <a:off x="4282633" y="3059016"/>
            <a:ext cx="3009417" cy="1099584"/>
          </a:xfrm>
          <a:prstGeom prst="flowChartDecision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부품 선택 </a:t>
            </a:r>
            <a:r>
              <a:rPr lang="en-US" altLang="ko-KR" dirty="0"/>
              <a:t>/ </a:t>
            </a:r>
            <a:r>
              <a:rPr lang="ko-KR" altLang="en-US" dirty="0"/>
              <a:t>게임 선택</a:t>
            </a: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C1CCC95D-AFDF-4E37-B384-03385BB5F34B}"/>
              </a:ext>
            </a:extLst>
          </p:cNvPr>
          <p:cNvSpPr/>
          <p:nvPr/>
        </p:nvSpPr>
        <p:spPr>
          <a:xfrm>
            <a:off x="2037144" y="4820298"/>
            <a:ext cx="3009417" cy="1307929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선택한 부품 목록의 호환성 체크 및 성능 분석 및 출력</a:t>
            </a: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9E71B3B1-3D5D-439D-AA12-9DB4A051BC09}"/>
              </a:ext>
            </a:extLst>
          </p:cNvPr>
          <p:cNvSpPr/>
          <p:nvPr/>
        </p:nvSpPr>
        <p:spPr>
          <a:xfrm>
            <a:off x="6680522" y="4820298"/>
            <a:ext cx="2926466" cy="1307929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/>
              <a:t>선택한 게임 목록의 권장 사양 이상의 견적 및 출력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13167C9-5AB0-4FA9-88F0-342C3728B72C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787342" y="2341374"/>
            <a:ext cx="0" cy="717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EBB03AA5-BAA5-4304-9109-C631F16A3AA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76215" y="3608808"/>
            <a:ext cx="740780" cy="12114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487A8F3E-21F3-4EB1-BA08-CD637232D78D}"/>
              </a:ext>
            </a:extLst>
          </p:cNvPr>
          <p:cNvCxnSpPr>
            <a:stCxn id="3" idx="3"/>
            <a:endCxn id="11" idx="0"/>
          </p:cNvCxnSpPr>
          <p:nvPr/>
        </p:nvCxnSpPr>
        <p:spPr>
          <a:xfrm>
            <a:off x="7292050" y="3608808"/>
            <a:ext cx="851705" cy="12114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149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1B9F28-A662-416B-BBC6-39C5B0C5B4EE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12804-F75C-4223-A396-14E7CCC31F4F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2316-0987-4900-8188-32417EF32792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4EE588-397E-45E1-8C45-13EE642C0960}"/>
              </a:ext>
            </a:extLst>
          </p:cNvPr>
          <p:cNvGrpSpPr/>
          <p:nvPr/>
        </p:nvGrpSpPr>
        <p:grpSpPr>
          <a:xfrm>
            <a:off x="1188881" y="351819"/>
            <a:ext cx="1564852" cy="660429"/>
            <a:chOff x="1188881" y="351819"/>
            <a:chExt cx="1564852" cy="6604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B5237B-9EFE-44F1-9644-6753CD4DFF8E}"/>
                </a:ext>
              </a:extLst>
            </p:cNvPr>
            <p:cNvSpPr txBox="1"/>
            <p:nvPr/>
          </p:nvSpPr>
          <p:spPr>
            <a:xfrm>
              <a:off x="1188881" y="351819"/>
              <a:ext cx="893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Flow chart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AE6C9B-74CD-436C-91B6-5359E2E14095}"/>
                </a:ext>
              </a:extLst>
            </p:cNvPr>
            <p:cNvSpPr txBox="1"/>
            <p:nvPr/>
          </p:nvSpPr>
          <p:spPr>
            <a:xfrm>
              <a:off x="1188881" y="581361"/>
              <a:ext cx="156485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/>
                <a:t>Part Select</a:t>
              </a:r>
              <a:endParaRPr lang="ko-KR" altLang="en-US" sz="2200" dirty="0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921E2A33-9B1F-419C-BE1F-A1333A89C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14" y="1470599"/>
            <a:ext cx="7425349" cy="4229810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FCD5E2E-5F2A-449C-B75D-85547A6B33DC}"/>
              </a:ext>
            </a:extLst>
          </p:cNvPr>
          <p:cNvSpPr/>
          <p:nvPr/>
        </p:nvSpPr>
        <p:spPr>
          <a:xfrm>
            <a:off x="6215669" y="5364807"/>
            <a:ext cx="612843" cy="321008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AF15A1E-3D30-4C26-A8AC-CC920A803E63}"/>
              </a:ext>
            </a:extLst>
          </p:cNvPr>
          <p:cNvSpPr/>
          <p:nvPr/>
        </p:nvSpPr>
        <p:spPr>
          <a:xfrm>
            <a:off x="6901763" y="5364807"/>
            <a:ext cx="744177" cy="321008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8F45FAB-9358-4876-96C4-0C81A29C8CE8}"/>
              </a:ext>
            </a:extLst>
          </p:cNvPr>
          <p:cNvCxnSpPr>
            <a:stCxn id="28" idx="3"/>
          </p:cNvCxnSpPr>
          <p:nvPr/>
        </p:nvCxnSpPr>
        <p:spPr>
          <a:xfrm>
            <a:off x="7645940" y="5525311"/>
            <a:ext cx="1945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B931666-92B4-4241-8F3B-031C1251B008}"/>
              </a:ext>
            </a:extLst>
          </p:cNvPr>
          <p:cNvSpPr txBox="1"/>
          <p:nvPr/>
        </p:nvSpPr>
        <p:spPr>
          <a:xfrm>
            <a:off x="9698477" y="5286985"/>
            <a:ext cx="2156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부품 모두 선택 시 게임 성능 출력</a:t>
            </a: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07E91146-DD95-4AF9-9FD3-7A1E3840394C}"/>
              </a:ext>
            </a:extLst>
          </p:cNvPr>
          <p:cNvSpPr/>
          <p:nvPr/>
        </p:nvSpPr>
        <p:spPr>
          <a:xfrm>
            <a:off x="6540603" y="4348264"/>
            <a:ext cx="3011959" cy="1021404"/>
          </a:xfrm>
          <a:custGeom>
            <a:avLst/>
            <a:gdLst>
              <a:gd name="connsiteX0" fmla="*/ 25567 w 3011959"/>
              <a:gd name="connsiteY0" fmla="*/ 1021404 h 1021404"/>
              <a:gd name="connsiteX1" fmla="*/ 434129 w 3011959"/>
              <a:gd name="connsiteY1" fmla="*/ 389106 h 1021404"/>
              <a:gd name="connsiteX2" fmla="*/ 3011959 w 3011959"/>
              <a:gd name="connsiteY2" fmla="*/ 0 h 1021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1959" h="1021404">
                <a:moveTo>
                  <a:pt x="25567" y="1021404"/>
                </a:moveTo>
                <a:cubicBezTo>
                  <a:pt x="-19018" y="790372"/>
                  <a:pt x="-63603" y="559340"/>
                  <a:pt x="434129" y="389106"/>
                </a:cubicBezTo>
                <a:cubicBezTo>
                  <a:pt x="931861" y="218872"/>
                  <a:pt x="1971910" y="109436"/>
                  <a:pt x="3011959" y="0"/>
                </a:cubicBez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0055DE-0AD7-4376-9407-1FEDFDA2F284}"/>
              </a:ext>
            </a:extLst>
          </p:cNvPr>
          <p:cNvSpPr txBox="1"/>
          <p:nvPr/>
        </p:nvSpPr>
        <p:spPr>
          <a:xfrm>
            <a:off x="9591472" y="4173166"/>
            <a:ext cx="180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초기화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B99C4F-6341-497A-8A2F-3843A396F341}"/>
              </a:ext>
            </a:extLst>
          </p:cNvPr>
          <p:cNvSpPr/>
          <p:nvPr/>
        </p:nvSpPr>
        <p:spPr>
          <a:xfrm>
            <a:off x="4727643" y="2091447"/>
            <a:ext cx="3683520" cy="311285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F8EF23B-48AB-4FBE-86F5-CB7EB69569C3}"/>
              </a:ext>
            </a:extLst>
          </p:cNvPr>
          <p:cNvCxnSpPr/>
          <p:nvPr/>
        </p:nvCxnSpPr>
        <p:spPr>
          <a:xfrm>
            <a:off x="8411163" y="2256817"/>
            <a:ext cx="1180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88C14E0-E06E-4485-A5BD-565F9720F420}"/>
              </a:ext>
            </a:extLst>
          </p:cNvPr>
          <p:cNvSpPr txBox="1"/>
          <p:nvPr/>
        </p:nvSpPr>
        <p:spPr>
          <a:xfrm>
            <a:off x="9688787" y="2091447"/>
            <a:ext cx="1945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세부 정보 출력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B8B4EDA-46FE-47C9-8A2D-7134BD7335C9}"/>
              </a:ext>
            </a:extLst>
          </p:cNvPr>
          <p:cNvSpPr/>
          <p:nvPr/>
        </p:nvSpPr>
        <p:spPr>
          <a:xfrm>
            <a:off x="1692613" y="2091447"/>
            <a:ext cx="2354093" cy="293775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6FECA516-CE8E-48F9-993B-09C2A288C4CD}"/>
              </a:ext>
            </a:extLst>
          </p:cNvPr>
          <p:cNvSpPr/>
          <p:nvPr/>
        </p:nvSpPr>
        <p:spPr>
          <a:xfrm>
            <a:off x="3608962" y="1089498"/>
            <a:ext cx="5807412" cy="1001949"/>
          </a:xfrm>
          <a:custGeom>
            <a:avLst/>
            <a:gdLst>
              <a:gd name="connsiteX0" fmla="*/ 0 w 5807412"/>
              <a:gd name="connsiteY0" fmla="*/ 1001949 h 1001949"/>
              <a:gd name="connsiteX1" fmla="*/ 1614791 w 5807412"/>
              <a:gd name="connsiteY1" fmla="*/ 350196 h 1001949"/>
              <a:gd name="connsiteX2" fmla="*/ 5807412 w 5807412"/>
              <a:gd name="connsiteY2" fmla="*/ 0 h 100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7412" h="1001949">
                <a:moveTo>
                  <a:pt x="0" y="1001949"/>
                </a:moveTo>
                <a:cubicBezTo>
                  <a:pt x="323444" y="759568"/>
                  <a:pt x="646889" y="517187"/>
                  <a:pt x="1614791" y="350196"/>
                </a:cubicBezTo>
                <a:cubicBezTo>
                  <a:pt x="2582693" y="183205"/>
                  <a:pt x="4195052" y="91602"/>
                  <a:pt x="5807412" y="0"/>
                </a:cubicBez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996893-7EAC-4BC0-A742-4FD27390F8ED}"/>
              </a:ext>
            </a:extLst>
          </p:cNvPr>
          <p:cNvSpPr txBox="1"/>
          <p:nvPr/>
        </p:nvSpPr>
        <p:spPr>
          <a:xfrm>
            <a:off x="9572017" y="908019"/>
            <a:ext cx="1293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부품 선택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E629C24-BFE1-4389-9A7C-39BB5BB5B56A}"/>
              </a:ext>
            </a:extLst>
          </p:cNvPr>
          <p:cNvCxnSpPr/>
          <p:nvPr/>
        </p:nvCxnSpPr>
        <p:spPr>
          <a:xfrm>
            <a:off x="4348264" y="5447489"/>
            <a:ext cx="0" cy="485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BEE55C9-2907-4A06-8600-AAD262AC9607}"/>
              </a:ext>
            </a:extLst>
          </p:cNvPr>
          <p:cNvSpPr txBox="1"/>
          <p:nvPr/>
        </p:nvSpPr>
        <p:spPr>
          <a:xfrm>
            <a:off x="3784059" y="6021794"/>
            <a:ext cx="1478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가격 출력</a:t>
            </a:r>
          </a:p>
        </p:txBody>
      </p:sp>
    </p:spTree>
    <p:extLst>
      <p:ext uri="{BB962C8B-B14F-4D97-AF65-F5344CB8AC3E}">
        <p14:creationId xmlns:p14="http://schemas.microsoft.com/office/powerpoint/2010/main" val="1363447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1B9F28-A662-416B-BBC6-39C5B0C5B4EE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12804-F75C-4223-A396-14E7CCC31F4F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2316-0987-4900-8188-32417EF32792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4EE588-397E-45E1-8C45-13EE642C0960}"/>
              </a:ext>
            </a:extLst>
          </p:cNvPr>
          <p:cNvGrpSpPr/>
          <p:nvPr/>
        </p:nvGrpSpPr>
        <p:grpSpPr>
          <a:xfrm>
            <a:off x="1188881" y="351819"/>
            <a:ext cx="3951723" cy="660429"/>
            <a:chOff x="1188881" y="351819"/>
            <a:chExt cx="3951723" cy="6604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B5237B-9EFE-44F1-9644-6753CD4DFF8E}"/>
                </a:ext>
              </a:extLst>
            </p:cNvPr>
            <p:cNvSpPr txBox="1"/>
            <p:nvPr/>
          </p:nvSpPr>
          <p:spPr>
            <a:xfrm>
              <a:off x="1188881" y="351819"/>
              <a:ext cx="893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Flow chart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AE6C9B-74CD-436C-91B6-5359E2E14095}"/>
                </a:ext>
              </a:extLst>
            </p:cNvPr>
            <p:cNvSpPr txBox="1"/>
            <p:nvPr/>
          </p:nvSpPr>
          <p:spPr>
            <a:xfrm>
              <a:off x="1188881" y="581361"/>
              <a:ext cx="39517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/>
                <a:t>Flow Chart related Part Select</a:t>
              </a:r>
              <a:endParaRPr lang="ko-KR" altLang="en-US" sz="2200" dirty="0"/>
            </a:p>
          </p:txBody>
        </p:sp>
      </p:grp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91F7720B-7C67-4B28-B0A8-B2C40BA7F74C}"/>
              </a:ext>
            </a:extLst>
          </p:cNvPr>
          <p:cNvSpPr/>
          <p:nvPr/>
        </p:nvSpPr>
        <p:spPr>
          <a:xfrm>
            <a:off x="1228664" y="2243400"/>
            <a:ext cx="1797090" cy="781284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CPU</a:t>
            </a:r>
            <a:r>
              <a:rPr lang="ko-KR" altLang="en-US" sz="1400" dirty="0"/>
              <a:t>와 호환되는 </a:t>
            </a:r>
            <a:r>
              <a:rPr lang="en-US" altLang="ko-KR" sz="1400" dirty="0"/>
              <a:t>Mainboard </a:t>
            </a:r>
            <a:r>
              <a:rPr lang="ko-KR" altLang="en-US" sz="1400" dirty="0"/>
              <a:t>추출</a:t>
            </a:r>
          </a:p>
        </p:txBody>
      </p:sp>
      <p:sp>
        <p:nvSpPr>
          <p:cNvPr id="3" name="순서도: 데이터 2">
            <a:extLst>
              <a:ext uri="{FF2B5EF4-FFF2-40B4-BE49-F238E27FC236}">
                <a16:creationId xmlns:a16="http://schemas.microsoft.com/office/drawing/2014/main" id="{002A8D01-67A3-44C4-AA13-8EBF83D56D1D}"/>
              </a:ext>
            </a:extLst>
          </p:cNvPr>
          <p:cNvSpPr/>
          <p:nvPr/>
        </p:nvSpPr>
        <p:spPr>
          <a:xfrm>
            <a:off x="1316981" y="1320484"/>
            <a:ext cx="1620456" cy="522310"/>
          </a:xfrm>
          <a:prstGeom prst="flowChartInputOutpu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/>
              <a:t>CPU </a:t>
            </a:r>
            <a:r>
              <a:rPr lang="ko-KR" altLang="en-US" sz="1400" dirty="0"/>
              <a:t>입력</a:t>
            </a:r>
          </a:p>
        </p:txBody>
      </p:sp>
      <p:sp>
        <p:nvSpPr>
          <p:cNvPr id="10" name="순서도: 판단 9">
            <a:extLst>
              <a:ext uri="{FF2B5EF4-FFF2-40B4-BE49-F238E27FC236}">
                <a16:creationId xmlns:a16="http://schemas.microsoft.com/office/drawing/2014/main" id="{BCADA498-2E5F-4F88-8874-51478E997578}"/>
              </a:ext>
            </a:extLst>
          </p:cNvPr>
          <p:cNvSpPr/>
          <p:nvPr/>
        </p:nvSpPr>
        <p:spPr>
          <a:xfrm>
            <a:off x="749440" y="4348206"/>
            <a:ext cx="2893671" cy="1046729"/>
          </a:xfrm>
          <a:prstGeom prst="flowChartDecision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입력된 </a:t>
            </a:r>
            <a:r>
              <a:rPr lang="en-US" altLang="ko-KR" sz="1400" dirty="0"/>
              <a:t>CPU</a:t>
            </a:r>
            <a:r>
              <a:rPr lang="ko-KR" altLang="en-US" sz="1400" dirty="0"/>
              <a:t>의 내장그래픽의 유</a:t>
            </a:r>
            <a:r>
              <a:rPr lang="en-US" altLang="ko-KR" sz="1400" dirty="0"/>
              <a:t>/</a:t>
            </a:r>
            <a:r>
              <a:rPr lang="ko-KR" altLang="en-US" sz="1400" dirty="0"/>
              <a:t>무</a:t>
            </a:r>
          </a:p>
        </p:txBody>
      </p:sp>
      <p:sp>
        <p:nvSpPr>
          <p:cNvPr id="11" name="순서도: 데이터 10">
            <a:extLst>
              <a:ext uri="{FF2B5EF4-FFF2-40B4-BE49-F238E27FC236}">
                <a16:creationId xmlns:a16="http://schemas.microsoft.com/office/drawing/2014/main" id="{4AD772EB-C607-4836-BA2A-D10BEFC5B650}"/>
              </a:ext>
            </a:extLst>
          </p:cNvPr>
          <p:cNvSpPr/>
          <p:nvPr/>
        </p:nvSpPr>
        <p:spPr>
          <a:xfrm>
            <a:off x="1316981" y="3425290"/>
            <a:ext cx="1846163" cy="522310"/>
          </a:xfrm>
          <a:prstGeom prst="flowChartInputOutpu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Mainboard </a:t>
            </a:r>
            <a:r>
              <a:rPr lang="ko-KR" altLang="en-US" sz="1400" dirty="0"/>
              <a:t>입력</a:t>
            </a:r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F41465CD-DE8A-4FDB-BD50-4EE0F35455E1}"/>
              </a:ext>
            </a:extLst>
          </p:cNvPr>
          <p:cNvSpPr/>
          <p:nvPr/>
        </p:nvSpPr>
        <p:spPr>
          <a:xfrm>
            <a:off x="1316980" y="5795541"/>
            <a:ext cx="1846163" cy="522310"/>
          </a:xfrm>
          <a:prstGeom prst="flowChartInputOutpu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VGA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생략 불가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875C2BC9-1A46-4A94-B374-86B48D25A694}"/>
              </a:ext>
            </a:extLst>
          </p:cNvPr>
          <p:cNvSpPr/>
          <p:nvPr/>
        </p:nvSpPr>
        <p:spPr>
          <a:xfrm>
            <a:off x="4478799" y="5794724"/>
            <a:ext cx="1846163" cy="522310"/>
          </a:xfrm>
          <a:prstGeom prst="flowChartInputOutpu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VGA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생략 가능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EE87A60-F258-4763-BA22-D7BDEB8AF60D}"/>
              </a:ext>
            </a:extLst>
          </p:cNvPr>
          <p:cNvSpPr/>
          <p:nvPr/>
        </p:nvSpPr>
        <p:spPr>
          <a:xfrm>
            <a:off x="4527872" y="4480928"/>
            <a:ext cx="1797090" cy="781284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CPU</a:t>
            </a:r>
            <a:r>
              <a:rPr lang="ko-KR" altLang="en-US" sz="1400" dirty="0"/>
              <a:t>와 호환되는 </a:t>
            </a:r>
            <a:r>
              <a:rPr lang="en-US" altLang="ko-KR" sz="1400" dirty="0"/>
              <a:t>Mainboard </a:t>
            </a:r>
            <a:r>
              <a:rPr lang="ko-KR" altLang="en-US" sz="1400" dirty="0"/>
              <a:t>추출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3EB45A3-C87A-4E0E-9CF5-4532602FB7D1}"/>
              </a:ext>
            </a:extLst>
          </p:cNvPr>
          <p:cNvCxnSpPr>
            <a:cxnSpLocks/>
          </p:cNvCxnSpPr>
          <p:nvPr/>
        </p:nvCxnSpPr>
        <p:spPr>
          <a:xfrm>
            <a:off x="2164945" y="1842794"/>
            <a:ext cx="0" cy="40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86075F1-1304-452F-BCFC-B48DF6AC911F}"/>
              </a:ext>
            </a:extLst>
          </p:cNvPr>
          <p:cNvCxnSpPr/>
          <p:nvPr/>
        </p:nvCxnSpPr>
        <p:spPr>
          <a:xfrm>
            <a:off x="2179052" y="3024684"/>
            <a:ext cx="0" cy="40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47AC90B-4E92-4F61-A076-CB85B92D39B8}"/>
              </a:ext>
            </a:extLst>
          </p:cNvPr>
          <p:cNvCxnSpPr/>
          <p:nvPr/>
        </p:nvCxnSpPr>
        <p:spPr>
          <a:xfrm>
            <a:off x="2193159" y="3947600"/>
            <a:ext cx="0" cy="40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0D24E2F-FE66-4861-A2F5-B61F7E4CEFE5}"/>
              </a:ext>
            </a:extLst>
          </p:cNvPr>
          <p:cNvCxnSpPr/>
          <p:nvPr/>
        </p:nvCxnSpPr>
        <p:spPr>
          <a:xfrm>
            <a:off x="2213776" y="5394935"/>
            <a:ext cx="0" cy="40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D57B3DE-F0C8-4A40-B6D5-394B2BBD3517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5423885" y="5262212"/>
            <a:ext cx="2532" cy="532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E82C9F1-BC8C-4DBF-839B-D885D4235692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 flipV="1">
            <a:off x="3643111" y="4871570"/>
            <a:ext cx="8847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945F2710-A18D-4B55-9089-5D79BF6B9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370" y="546820"/>
            <a:ext cx="3618772" cy="239586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E8C25F5-8DD5-4E61-9A41-C9386B84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618" y="3526692"/>
            <a:ext cx="3600148" cy="239586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4699197-A215-4C48-B192-0162BE912733}"/>
              </a:ext>
            </a:extLst>
          </p:cNvPr>
          <p:cNvSpPr txBox="1"/>
          <p:nvPr/>
        </p:nvSpPr>
        <p:spPr>
          <a:xfrm>
            <a:off x="8701443" y="3048551"/>
            <a:ext cx="179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내장그래픽 有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95C1EE-38BD-4514-953C-63845FF4AE79}"/>
              </a:ext>
            </a:extLst>
          </p:cNvPr>
          <p:cNvSpPr txBox="1"/>
          <p:nvPr/>
        </p:nvSpPr>
        <p:spPr>
          <a:xfrm>
            <a:off x="8701443" y="5971569"/>
            <a:ext cx="179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내장그래픽 無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0090861-9795-4168-BFB6-8C6363EF862D}"/>
              </a:ext>
            </a:extLst>
          </p:cNvPr>
          <p:cNvCxnSpPr>
            <a:cxnSpLocks/>
          </p:cNvCxnSpPr>
          <p:nvPr/>
        </p:nvCxnSpPr>
        <p:spPr>
          <a:xfrm>
            <a:off x="6952527" y="1155884"/>
            <a:ext cx="0" cy="452399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583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1B9F28-A662-416B-BBC6-39C5B0C5B4EE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12804-F75C-4223-A396-14E7CCC31F4F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2316-0987-4900-8188-32417EF32792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4EE588-397E-45E1-8C45-13EE642C0960}"/>
              </a:ext>
            </a:extLst>
          </p:cNvPr>
          <p:cNvGrpSpPr/>
          <p:nvPr/>
        </p:nvGrpSpPr>
        <p:grpSpPr>
          <a:xfrm>
            <a:off x="1188881" y="351819"/>
            <a:ext cx="3951723" cy="660429"/>
            <a:chOff x="1188881" y="351819"/>
            <a:chExt cx="3951723" cy="6604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B5237B-9EFE-44F1-9644-6753CD4DFF8E}"/>
                </a:ext>
              </a:extLst>
            </p:cNvPr>
            <p:cNvSpPr txBox="1"/>
            <p:nvPr/>
          </p:nvSpPr>
          <p:spPr>
            <a:xfrm>
              <a:off x="1188881" y="351819"/>
              <a:ext cx="893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Flow chart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AE6C9B-74CD-436C-91B6-5359E2E14095}"/>
                </a:ext>
              </a:extLst>
            </p:cNvPr>
            <p:cNvSpPr txBox="1"/>
            <p:nvPr/>
          </p:nvSpPr>
          <p:spPr>
            <a:xfrm>
              <a:off x="1188881" y="581361"/>
              <a:ext cx="39517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/>
                <a:t>Flow Chart related Part Select</a:t>
              </a:r>
              <a:endParaRPr lang="ko-KR" altLang="en-US" sz="2200" dirty="0"/>
            </a:p>
          </p:txBody>
        </p:sp>
      </p:grp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91F7720B-7C67-4B28-B0A8-B2C40BA7F74C}"/>
              </a:ext>
            </a:extLst>
          </p:cNvPr>
          <p:cNvSpPr/>
          <p:nvPr/>
        </p:nvSpPr>
        <p:spPr>
          <a:xfrm>
            <a:off x="9961038" y="4845076"/>
            <a:ext cx="1797090" cy="781284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 err="1"/>
              <a:t>PowerSupply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</a:p>
        </p:txBody>
      </p:sp>
      <p:sp>
        <p:nvSpPr>
          <p:cNvPr id="3" name="순서도: 데이터 2">
            <a:extLst>
              <a:ext uri="{FF2B5EF4-FFF2-40B4-BE49-F238E27FC236}">
                <a16:creationId xmlns:a16="http://schemas.microsoft.com/office/drawing/2014/main" id="{002A8D01-67A3-44C4-AA13-8EBF83D56D1D}"/>
              </a:ext>
            </a:extLst>
          </p:cNvPr>
          <p:cNvSpPr/>
          <p:nvPr/>
        </p:nvSpPr>
        <p:spPr>
          <a:xfrm>
            <a:off x="1614637" y="3364143"/>
            <a:ext cx="1753585" cy="522310"/>
          </a:xfrm>
          <a:prstGeom prst="flowChartInputOutpu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SSD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생략 가능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0" name="순서도: 판단 9">
            <a:extLst>
              <a:ext uri="{FF2B5EF4-FFF2-40B4-BE49-F238E27FC236}">
                <a16:creationId xmlns:a16="http://schemas.microsoft.com/office/drawing/2014/main" id="{BCADA498-2E5F-4F88-8874-51478E997578}"/>
              </a:ext>
            </a:extLst>
          </p:cNvPr>
          <p:cNvSpPr/>
          <p:nvPr/>
        </p:nvSpPr>
        <p:spPr>
          <a:xfrm>
            <a:off x="1099596" y="4258647"/>
            <a:ext cx="2743200" cy="880512"/>
          </a:xfrm>
          <a:prstGeom prst="flowChartDecision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SSD </a:t>
            </a:r>
            <a:r>
              <a:rPr lang="ko-KR" altLang="en-US" sz="1400" dirty="0"/>
              <a:t>선택 유무</a:t>
            </a:r>
          </a:p>
        </p:txBody>
      </p:sp>
      <p:sp>
        <p:nvSpPr>
          <p:cNvPr id="11" name="순서도: 데이터 10">
            <a:extLst>
              <a:ext uri="{FF2B5EF4-FFF2-40B4-BE49-F238E27FC236}">
                <a16:creationId xmlns:a16="http://schemas.microsoft.com/office/drawing/2014/main" id="{4AD772EB-C607-4836-BA2A-D10BEFC5B650}"/>
              </a:ext>
            </a:extLst>
          </p:cNvPr>
          <p:cNvSpPr/>
          <p:nvPr/>
        </p:nvSpPr>
        <p:spPr>
          <a:xfrm>
            <a:off x="1568349" y="2397236"/>
            <a:ext cx="1846163" cy="522310"/>
          </a:xfrm>
          <a:prstGeom prst="flowChartInputOutpu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RAM</a:t>
            </a:r>
            <a:r>
              <a:rPr lang="ko-KR" altLang="en-US" sz="1400" dirty="0"/>
              <a:t>입력</a:t>
            </a:r>
          </a:p>
        </p:txBody>
      </p:sp>
      <p:sp>
        <p:nvSpPr>
          <p:cNvPr id="12" name="순서도: 데이터 11">
            <a:extLst>
              <a:ext uri="{FF2B5EF4-FFF2-40B4-BE49-F238E27FC236}">
                <a16:creationId xmlns:a16="http://schemas.microsoft.com/office/drawing/2014/main" id="{CF7C9A16-730F-472F-AD50-1AE27B6C2E13}"/>
              </a:ext>
            </a:extLst>
          </p:cNvPr>
          <p:cNvSpPr/>
          <p:nvPr/>
        </p:nvSpPr>
        <p:spPr>
          <a:xfrm>
            <a:off x="749440" y="1430329"/>
            <a:ext cx="1846163" cy="522310"/>
          </a:xfrm>
          <a:prstGeom prst="flowChartInputOutpu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VGA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생략 불가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C2AD306C-5DAE-4799-90EA-3E608FEE5C66}"/>
              </a:ext>
            </a:extLst>
          </p:cNvPr>
          <p:cNvSpPr/>
          <p:nvPr/>
        </p:nvSpPr>
        <p:spPr>
          <a:xfrm>
            <a:off x="2830974" y="1430329"/>
            <a:ext cx="1846163" cy="522310"/>
          </a:xfrm>
          <a:prstGeom prst="flowChartInputOutpu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VGA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생략 가능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86B9DDB-DD97-4B9A-AF8C-AF6C02EA8C32}"/>
              </a:ext>
            </a:extLst>
          </p:cNvPr>
          <p:cNvCxnSpPr>
            <a:stCxn id="12" idx="4"/>
          </p:cNvCxnSpPr>
          <p:nvPr/>
        </p:nvCxnSpPr>
        <p:spPr>
          <a:xfrm flipH="1">
            <a:off x="1672521" y="1952639"/>
            <a:ext cx="1" cy="180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E5A2E3A-34FF-49BF-A45E-EFA40B21FE87}"/>
              </a:ext>
            </a:extLst>
          </p:cNvPr>
          <p:cNvCxnSpPr>
            <a:cxnSpLocks/>
          </p:cNvCxnSpPr>
          <p:nvPr/>
        </p:nvCxnSpPr>
        <p:spPr>
          <a:xfrm>
            <a:off x="1672521" y="2133194"/>
            <a:ext cx="18969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2FCABD7-C818-44E8-BC0C-A2119A1441BB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3569439" y="1952639"/>
            <a:ext cx="0" cy="180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B7C1743-812F-4926-B990-D4CB13B0A40C}"/>
              </a:ext>
            </a:extLst>
          </p:cNvPr>
          <p:cNvCxnSpPr>
            <a:endCxn id="11" idx="1"/>
          </p:cNvCxnSpPr>
          <p:nvPr/>
        </p:nvCxnSpPr>
        <p:spPr>
          <a:xfrm>
            <a:off x="2491430" y="2133194"/>
            <a:ext cx="1" cy="264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502403E-5A10-45C3-99C2-8FA326977B3D}"/>
              </a:ext>
            </a:extLst>
          </p:cNvPr>
          <p:cNvCxnSpPr>
            <a:cxnSpLocks/>
            <a:stCxn id="11" idx="4"/>
            <a:endCxn id="3" idx="1"/>
          </p:cNvCxnSpPr>
          <p:nvPr/>
        </p:nvCxnSpPr>
        <p:spPr>
          <a:xfrm flipH="1">
            <a:off x="2491430" y="2919546"/>
            <a:ext cx="1" cy="444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73F9707-7309-4BA3-92F6-7B7DC8FCCEB7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2491430" y="3886453"/>
            <a:ext cx="0" cy="408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순서도: 처리 29">
            <a:extLst>
              <a:ext uri="{FF2B5EF4-FFF2-40B4-BE49-F238E27FC236}">
                <a16:creationId xmlns:a16="http://schemas.microsoft.com/office/drawing/2014/main" id="{1847E255-A59B-4DAF-8628-136B2F50C2B6}"/>
              </a:ext>
            </a:extLst>
          </p:cNvPr>
          <p:cNvSpPr/>
          <p:nvPr/>
        </p:nvSpPr>
        <p:spPr>
          <a:xfrm>
            <a:off x="4253603" y="4318999"/>
            <a:ext cx="1797090" cy="781284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HDD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생략 불가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4B4C8D16-CCBA-4FC5-9BD4-07D04CDBCDA4}"/>
              </a:ext>
            </a:extLst>
          </p:cNvPr>
          <p:cNvSpPr/>
          <p:nvPr/>
        </p:nvSpPr>
        <p:spPr>
          <a:xfrm>
            <a:off x="1568349" y="5511353"/>
            <a:ext cx="1797090" cy="781284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HDD </a:t>
            </a:r>
            <a:r>
              <a:rPr lang="ko-KR" altLang="en-US" sz="1400" dirty="0"/>
              <a:t>콤보 박스에 </a:t>
            </a:r>
            <a:r>
              <a:rPr lang="en-US" altLang="ko-KR" sz="1400" dirty="0"/>
              <a:t>“no select”</a:t>
            </a:r>
            <a:r>
              <a:rPr lang="ko-KR" altLang="en-US" sz="1400" dirty="0"/>
              <a:t>란</a:t>
            </a:r>
            <a:r>
              <a:rPr lang="en-US" altLang="ko-KR" sz="1400" dirty="0"/>
              <a:t> </a:t>
            </a:r>
            <a:r>
              <a:rPr lang="ko-KR" altLang="en-US" sz="1400" dirty="0"/>
              <a:t>추가</a:t>
            </a:r>
          </a:p>
        </p:txBody>
      </p:sp>
      <p:sp>
        <p:nvSpPr>
          <p:cNvPr id="32" name="순서도: 처리 31">
            <a:extLst>
              <a:ext uri="{FF2B5EF4-FFF2-40B4-BE49-F238E27FC236}">
                <a16:creationId xmlns:a16="http://schemas.microsoft.com/office/drawing/2014/main" id="{3080CDF9-95C8-454B-BD69-8C3BAE35C8A3}"/>
              </a:ext>
            </a:extLst>
          </p:cNvPr>
          <p:cNvSpPr/>
          <p:nvPr/>
        </p:nvSpPr>
        <p:spPr>
          <a:xfrm>
            <a:off x="4242059" y="5511353"/>
            <a:ext cx="1797090" cy="781284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HDD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생략 가능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4968358-4632-466E-886F-A1CEF5336A76}"/>
              </a:ext>
            </a:extLst>
          </p:cNvPr>
          <p:cNvCxnSpPr>
            <a:stCxn id="10" idx="2"/>
            <a:endCxn id="31" idx="0"/>
          </p:cNvCxnSpPr>
          <p:nvPr/>
        </p:nvCxnSpPr>
        <p:spPr>
          <a:xfrm flipH="1">
            <a:off x="2466894" y="5139159"/>
            <a:ext cx="4302" cy="372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7420FCB-6B2B-4A19-B045-38BB648FB5A4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842796" y="4698903"/>
            <a:ext cx="399263" cy="10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BBCE344-9B19-4958-A8F4-30DB2791949E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3365439" y="5901995"/>
            <a:ext cx="876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820BC5F-2CB8-40A7-928E-3D38DD92324E}"/>
              </a:ext>
            </a:extLst>
          </p:cNvPr>
          <p:cNvCxnSpPr>
            <a:stCxn id="30" idx="3"/>
          </p:cNvCxnSpPr>
          <p:nvPr/>
        </p:nvCxnSpPr>
        <p:spPr>
          <a:xfrm>
            <a:off x="6050693" y="4709641"/>
            <a:ext cx="2922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212A966-F2A6-4537-8D3C-44E10C5DB395}"/>
              </a:ext>
            </a:extLst>
          </p:cNvPr>
          <p:cNvCxnSpPr/>
          <p:nvPr/>
        </p:nvCxnSpPr>
        <p:spPr>
          <a:xfrm>
            <a:off x="6039149" y="5901995"/>
            <a:ext cx="2922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F8BFB3E-B4B0-4F1D-906A-59CC68997447}"/>
              </a:ext>
            </a:extLst>
          </p:cNvPr>
          <p:cNvCxnSpPr/>
          <p:nvPr/>
        </p:nvCxnSpPr>
        <p:spPr>
          <a:xfrm>
            <a:off x="6331352" y="4698903"/>
            <a:ext cx="0" cy="1203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964FF14-9117-490F-BDEF-B65E1813B0E0}"/>
              </a:ext>
            </a:extLst>
          </p:cNvPr>
          <p:cNvCxnSpPr/>
          <p:nvPr/>
        </p:nvCxnSpPr>
        <p:spPr>
          <a:xfrm>
            <a:off x="6331352" y="5300449"/>
            <a:ext cx="347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60EBAF1B-B29C-4DE7-A5F1-0A246D446168}"/>
              </a:ext>
            </a:extLst>
          </p:cNvPr>
          <p:cNvSpPr/>
          <p:nvPr/>
        </p:nvSpPr>
        <p:spPr>
          <a:xfrm>
            <a:off x="6730615" y="4780345"/>
            <a:ext cx="2668028" cy="910746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선택한 부품들의 총 전력량 </a:t>
            </a:r>
            <a:r>
              <a:rPr lang="en-US" altLang="ko-KR" sz="1400" dirty="0"/>
              <a:t>+150</a:t>
            </a:r>
            <a:r>
              <a:rPr lang="ko-KR" altLang="en-US" sz="1400" dirty="0"/>
              <a:t>한 값보다 적은 용량의 </a:t>
            </a:r>
            <a:r>
              <a:rPr lang="en-US" altLang="ko-KR" sz="1400" dirty="0" err="1"/>
              <a:t>PowerSupply</a:t>
            </a:r>
            <a:r>
              <a:rPr lang="ko-KR" altLang="en-US" sz="1400" dirty="0"/>
              <a:t>는 목록에서 제거</a:t>
            </a:r>
          </a:p>
        </p:txBody>
      </p:sp>
      <p:sp>
        <p:nvSpPr>
          <p:cNvPr id="50" name="순서도: 판단 49">
            <a:extLst>
              <a:ext uri="{FF2B5EF4-FFF2-40B4-BE49-F238E27FC236}">
                <a16:creationId xmlns:a16="http://schemas.microsoft.com/office/drawing/2014/main" id="{D8EDFFBE-190A-44EF-BEAE-35791346FF44}"/>
              </a:ext>
            </a:extLst>
          </p:cNvPr>
          <p:cNvSpPr/>
          <p:nvPr/>
        </p:nvSpPr>
        <p:spPr>
          <a:xfrm>
            <a:off x="7356574" y="2860409"/>
            <a:ext cx="4084137" cy="1137182"/>
          </a:xfrm>
          <a:prstGeom prst="flowChartDecision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Initialize </a:t>
            </a:r>
            <a:r>
              <a:rPr lang="ko-KR" altLang="en-US" sz="1400" dirty="0"/>
              <a:t>또는 </a:t>
            </a:r>
            <a:r>
              <a:rPr lang="en-US" altLang="ko-KR" sz="1400" dirty="0"/>
              <a:t>Performance </a:t>
            </a:r>
            <a:r>
              <a:rPr lang="ko-KR" altLang="en-US" sz="1400" dirty="0"/>
              <a:t>버튼 클릭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B55E045-755E-43FF-85C3-3EFC6FA709BC}"/>
              </a:ext>
            </a:extLst>
          </p:cNvPr>
          <p:cNvCxnSpPr>
            <a:stCxn id="49" idx="3"/>
            <a:endCxn id="2" idx="1"/>
          </p:cNvCxnSpPr>
          <p:nvPr/>
        </p:nvCxnSpPr>
        <p:spPr>
          <a:xfrm>
            <a:off x="9398643" y="5235718"/>
            <a:ext cx="5623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541BCE1E-7F2B-4C36-A0A5-40614E3718DC}"/>
              </a:ext>
            </a:extLst>
          </p:cNvPr>
          <p:cNvCxnSpPr>
            <a:stCxn id="2" idx="0"/>
            <a:endCxn id="50" idx="2"/>
          </p:cNvCxnSpPr>
          <p:nvPr/>
        </p:nvCxnSpPr>
        <p:spPr>
          <a:xfrm rot="16200000" flipV="1">
            <a:off x="9705371" y="3690864"/>
            <a:ext cx="847485" cy="14609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처리 57">
            <a:extLst>
              <a:ext uri="{FF2B5EF4-FFF2-40B4-BE49-F238E27FC236}">
                <a16:creationId xmlns:a16="http://schemas.microsoft.com/office/drawing/2014/main" id="{4E4ECC46-01B4-4E45-83DB-609C4AAAC0EB}"/>
              </a:ext>
            </a:extLst>
          </p:cNvPr>
          <p:cNvSpPr/>
          <p:nvPr/>
        </p:nvSpPr>
        <p:spPr>
          <a:xfrm>
            <a:off x="4614864" y="3038358"/>
            <a:ext cx="1797090" cy="781284"/>
          </a:xfrm>
          <a:prstGeom prst="flowChartProcess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Performance </a:t>
            </a:r>
            <a:r>
              <a:rPr lang="ko-KR" altLang="en-US" sz="1400" dirty="0"/>
              <a:t>출력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5885BA5-5BB5-48DF-B1A7-93ADC95E3B3F}"/>
              </a:ext>
            </a:extLst>
          </p:cNvPr>
          <p:cNvCxnSpPr>
            <a:stCxn id="50" idx="1"/>
            <a:endCxn id="58" idx="3"/>
          </p:cNvCxnSpPr>
          <p:nvPr/>
        </p:nvCxnSpPr>
        <p:spPr>
          <a:xfrm flipH="1">
            <a:off x="6411954" y="3429000"/>
            <a:ext cx="944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순서도: 데이터 60">
            <a:extLst>
              <a:ext uri="{FF2B5EF4-FFF2-40B4-BE49-F238E27FC236}">
                <a16:creationId xmlns:a16="http://schemas.microsoft.com/office/drawing/2014/main" id="{73BB310C-BFB6-48D1-BC35-05F485A5F5A4}"/>
              </a:ext>
            </a:extLst>
          </p:cNvPr>
          <p:cNvSpPr/>
          <p:nvPr/>
        </p:nvSpPr>
        <p:spPr>
          <a:xfrm>
            <a:off x="6331352" y="796804"/>
            <a:ext cx="1846163" cy="522310"/>
          </a:xfrm>
          <a:prstGeom prst="flowChartInputOutpu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CPU </a:t>
            </a:r>
            <a:r>
              <a:rPr lang="ko-KR" altLang="en-US" sz="1400" dirty="0"/>
              <a:t>입력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A4461C-9855-49A3-A328-CAFCEEBFF51A}"/>
              </a:ext>
            </a:extLst>
          </p:cNvPr>
          <p:cNvSpPr txBox="1"/>
          <p:nvPr/>
        </p:nvSpPr>
        <p:spPr>
          <a:xfrm>
            <a:off x="6419684" y="3421996"/>
            <a:ext cx="1487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Performance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A9CA42-3DF3-458A-B70F-5A2353194A33}"/>
              </a:ext>
            </a:extLst>
          </p:cNvPr>
          <p:cNvSpPr txBox="1"/>
          <p:nvPr/>
        </p:nvSpPr>
        <p:spPr>
          <a:xfrm>
            <a:off x="1998333" y="5097804"/>
            <a:ext cx="816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Yes</a:t>
            </a:r>
            <a:endParaRPr lang="ko-KR" altLang="en-US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1191013-EE81-4A40-991A-47EF9A8BA51E}"/>
              </a:ext>
            </a:extLst>
          </p:cNvPr>
          <p:cNvSpPr txBox="1"/>
          <p:nvPr/>
        </p:nvSpPr>
        <p:spPr>
          <a:xfrm>
            <a:off x="3877730" y="4410095"/>
            <a:ext cx="7994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No</a:t>
            </a:r>
            <a:endParaRPr lang="ko-KR" altLang="en-US" sz="1400" dirty="0"/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1FD8CBF1-21C0-4B2D-8B27-DF347F2AAB81}"/>
              </a:ext>
            </a:extLst>
          </p:cNvPr>
          <p:cNvCxnSpPr>
            <a:stCxn id="50" idx="0"/>
            <a:endCxn id="61" idx="4"/>
          </p:cNvCxnSpPr>
          <p:nvPr/>
        </p:nvCxnSpPr>
        <p:spPr>
          <a:xfrm rot="16200000" flipV="1">
            <a:off x="7555892" y="1017657"/>
            <a:ext cx="1541295" cy="2144209"/>
          </a:xfrm>
          <a:prstGeom prst="bentConnector3">
            <a:avLst>
              <a:gd name="adj1" fmla="val 56759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6F3B6EC7-CDB2-45DE-8F23-CD21A1B87C00}"/>
              </a:ext>
            </a:extLst>
          </p:cNvPr>
          <p:cNvCxnSpPr>
            <a:stCxn id="61" idx="5"/>
          </p:cNvCxnSpPr>
          <p:nvPr/>
        </p:nvCxnSpPr>
        <p:spPr>
          <a:xfrm flipV="1">
            <a:off x="7992899" y="1055879"/>
            <a:ext cx="711263" cy="20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EA4DA2A-55AD-4EE7-87B8-19347773CF4F}"/>
              </a:ext>
            </a:extLst>
          </p:cNvPr>
          <p:cNvSpPr txBox="1"/>
          <p:nvPr/>
        </p:nvSpPr>
        <p:spPr>
          <a:xfrm>
            <a:off x="8704162" y="901990"/>
            <a:ext cx="229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처음부터 다시 선택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E28C8E-ED77-4CA9-BC25-628E6A2F54EA}"/>
              </a:ext>
            </a:extLst>
          </p:cNvPr>
          <p:cNvSpPr txBox="1"/>
          <p:nvPr/>
        </p:nvSpPr>
        <p:spPr>
          <a:xfrm>
            <a:off x="8145299" y="2131705"/>
            <a:ext cx="1046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Initialize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37640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1B9F28-A662-416B-BBC6-39C5B0C5B4EE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12804-F75C-4223-A396-14E7CCC31F4F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2316-0987-4900-8188-32417EF32792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4EE588-397E-45E1-8C45-13EE642C0960}"/>
              </a:ext>
            </a:extLst>
          </p:cNvPr>
          <p:cNvGrpSpPr/>
          <p:nvPr/>
        </p:nvGrpSpPr>
        <p:grpSpPr>
          <a:xfrm>
            <a:off x="1188881" y="351819"/>
            <a:ext cx="2443298" cy="660429"/>
            <a:chOff x="1188881" y="351819"/>
            <a:chExt cx="2443298" cy="6604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B5237B-9EFE-44F1-9644-6753CD4DFF8E}"/>
                </a:ext>
              </a:extLst>
            </p:cNvPr>
            <p:cNvSpPr txBox="1"/>
            <p:nvPr/>
          </p:nvSpPr>
          <p:spPr>
            <a:xfrm>
              <a:off x="1188881" y="351819"/>
              <a:ext cx="893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Flow chart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AE6C9B-74CD-436C-91B6-5359E2E14095}"/>
                </a:ext>
              </a:extLst>
            </p:cNvPr>
            <p:cNvSpPr txBox="1"/>
            <p:nvPr/>
          </p:nvSpPr>
          <p:spPr>
            <a:xfrm>
              <a:off x="1188881" y="581361"/>
              <a:ext cx="244329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/>
                <a:t>Result Part Select</a:t>
              </a:r>
              <a:endParaRPr lang="ko-KR" altLang="en-US" sz="2200" dirty="0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02C8D89-BF27-4A52-AADC-7D55C817C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42" y="1320484"/>
            <a:ext cx="10818606" cy="468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34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1B9F28-A662-416B-BBC6-39C5B0C5B4EE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12804-F75C-4223-A396-14E7CCC31F4F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2316-0987-4900-8188-32417EF32792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4EE588-397E-45E1-8C45-13EE642C0960}"/>
              </a:ext>
            </a:extLst>
          </p:cNvPr>
          <p:cNvGrpSpPr/>
          <p:nvPr/>
        </p:nvGrpSpPr>
        <p:grpSpPr>
          <a:xfrm>
            <a:off x="1188881" y="351819"/>
            <a:ext cx="1963999" cy="691207"/>
            <a:chOff x="1188881" y="351819"/>
            <a:chExt cx="1963999" cy="6912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B5237B-9EFE-44F1-9644-6753CD4DFF8E}"/>
                </a:ext>
              </a:extLst>
            </p:cNvPr>
            <p:cNvSpPr txBox="1"/>
            <p:nvPr/>
          </p:nvSpPr>
          <p:spPr>
            <a:xfrm>
              <a:off x="1188881" y="351819"/>
              <a:ext cx="893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Flow chart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AE6C9B-74CD-436C-91B6-5359E2E14095}"/>
                </a:ext>
              </a:extLst>
            </p:cNvPr>
            <p:cNvSpPr txBox="1"/>
            <p:nvPr/>
          </p:nvSpPr>
          <p:spPr>
            <a:xfrm>
              <a:off x="1188881" y="581361"/>
              <a:ext cx="19639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/>
                <a:t>Game Select</a:t>
              </a:r>
              <a:endParaRPr lang="ko-KR" altLang="en-US" sz="2400" dirty="0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50456AB1-4F90-41F6-A544-FB7D01794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0" y="1606880"/>
            <a:ext cx="5931389" cy="4239440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2C33BCB-B04A-4BBB-8828-4A96892F55B1}"/>
              </a:ext>
            </a:extLst>
          </p:cNvPr>
          <p:cNvSpPr/>
          <p:nvPr/>
        </p:nvSpPr>
        <p:spPr>
          <a:xfrm>
            <a:off x="3463047" y="2344366"/>
            <a:ext cx="622570" cy="252888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F7A66CAD-D01D-4BE5-8B5F-8D043F5931B4}"/>
              </a:ext>
            </a:extLst>
          </p:cNvPr>
          <p:cNvSpPr/>
          <p:nvPr/>
        </p:nvSpPr>
        <p:spPr>
          <a:xfrm>
            <a:off x="3784060" y="1250612"/>
            <a:ext cx="4854102" cy="1093754"/>
          </a:xfrm>
          <a:custGeom>
            <a:avLst/>
            <a:gdLst>
              <a:gd name="connsiteX0" fmla="*/ 0 w 4854102"/>
              <a:gd name="connsiteY0" fmla="*/ 1093754 h 1093754"/>
              <a:gd name="connsiteX1" fmla="*/ 1225685 w 4854102"/>
              <a:gd name="connsiteY1" fmla="*/ 13984 h 1093754"/>
              <a:gd name="connsiteX2" fmla="*/ 4854102 w 4854102"/>
              <a:gd name="connsiteY2" fmla="*/ 578188 h 1093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54102" h="1093754">
                <a:moveTo>
                  <a:pt x="0" y="1093754"/>
                </a:moveTo>
                <a:cubicBezTo>
                  <a:pt x="208334" y="596833"/>
                  <a:pt x="416668" y="99912"/>
                  <a:pt x="1225685" y="13984"/>
                </a:cubicBezTo>
                <a:cubicBezTo>
                  <a:pt x="2034702" y="-71944"/>
                  <a:pt x="3444402" y="253122"/>
                  <a:pt x="4854102" y="578188"/>
                </a:cubicBez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00C6A3-983A-42C6-86E2-54B3164C861C}"/>
              </a:ext>
            </a:extLst>
          </p:cNvPr>
          <p:cNvSpPr txBox="1"/>
          <p:nvPr/>
        </p:nvSpPr>
        <p:spPr>
          <a:xfrm>
            <a:off x="8638162" y="1733324"/>
            <a:ext cx="1809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게임 추가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B047554-C98E-4E62-9A50-53EC01FFDFBD}"/>
              </a:ext>
            </a:extLst>
          </p:cNvPr>
          <p:cNvSpPr/>
          <p:nvPr/>
        </p:nvSpPr>
        <p:spPr>
          <a:xfrm>
            <a:off x="3463047" y="3400914"/>
            <a:ext cx="622570" cy="252888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AB7DB6C4-3437-4D3D-8A5B-3CBCE4668822}"/>
              </a:ext>
            </a:extLst>
          </p:cNvPr>
          <p:cNvSpPr/>
          <p:nvPr/>
        </p:nvSpPr>
        <p:spPr>
          <a:xfrm>
            <a:off x="3784060" y="3657600"/>
            <a:ext cx="4552544" cy="1689137"/>
          </a:xfrm>
          <a:custGeom>
            <a:avLst/>
            <a:gdLst>
              <a:gd name="connsiteX0" fmla="*/ 0 w 4552544"/>
              <a:gd name="connsiteY0" fmla="*/ 0 h 1689137"/>
              <a:gd name="connsiteX1" fmla="*/ 1429966 w 4552544"/>
              <a:gd name="connsiteY1" fmla="*/ 1488332 h 1689137"/>
              <a:gd name="connsiteX2" fmla="*/ 4552544 w 4552544"/>
              <a:gd name="connsiteY2" fmla="*/ 1634247 h 168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52544" h="1689137">
                <a:moveTo>
                  <a:pt x="0" y="0"/>
                </a:moveTo>
                <a:cubicBezTo>
                  <a:pt x="335604" y="607979"/>
                  <a:pt x="671209" y="1215958"/>
                  <a:pt x="1429966" y="1488332"/>
                </a:cubicBezTo>
                <a:cubicBezTo>
                  <a:pt x="2188723" y="1760706"/>
                  <a:pt x="3370633" y="1697476"/>
                  <a:pt x="4552544" y="1634247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CFCADF-5662-437F-9EE2-2C1CA8FCA907}"/>
              </a:ext>
            </a:extLst>
          </p:cNvPr>
          <p:cNvSpPr txBox="1"/>
          <p:nvPr/>
        </p:nvSpPr>
        <p:spPr>
          <a:xfrm>
            <a:off x="8336604" y="5162071"/>
            <a:ext cx="1809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추천 부품 출력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D764B7F-33B9-44A9-8E07-A91A58E960CF}"/>
              </a:ext>
            </a:extLst>
          </p:cNvPr>
          <p:cNvSpPr/>
          <p:nvPr/>
        </p:nvSpPr>
        <p:spPr>
          <a:xfrm>
            <a:off x="3463047" y="2704289"/>
            <a:ext cx="622570" cy="24923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1CDA876-C626-4DE2-84A7-0D4BCB5BF5BD}"/>
              </a:ext>
            </a:extLst>
          </p:cNvPr>
          <p:cNvSpPr/>
          <p:nvPr/>
        </p:nvSpPr>
        <p:spPr>
          <a:xfrm>
            <a:off x="3463047" y="3041057"/>
            <a:ext cx="622570" cy="249233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168BAC-ECDE-4EC9-A130-685D9C8F3F93}"/>
              </a:ext>
            </a:extLst>
          </p:cNvPr>
          <p:cNvCxnSpPr/>
          <p:nvPr/>
        </p:nvCxnSpPr>
        <p:spPr>
          <a:xfrm>
            <a:off x="4085617" y="2828905"/>
            <a:ext cx="4250987" cy="215048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8BE68BE-611A-4074-9737-BE62C045D85E}"/>
              </a:ext>
            </a:extLst>
          </p:cNvPr>
          <p:cNvSpPr txBox="1"/>
          <p:nvPr/>
        </p:nvSpPr>
        <p:spPr>
          <a:xfrm>
            <a:off x="8353576" y="2882575"/>
            <a:ext cx="1391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게임 삭제</a:t>
            </a: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6DF4E8E6-32BF-4199-BCF6-1A4198C01A8F}"/>
              </a:ext>
            </a:extLst>
          </p:cNvPr>
          <p:cNvSpPr/>
          <p:nvPr/>
        </p:nvSpPr>
        <p:spPr>
          <a:xfrm>
            <a:off x="4085617" y="3171217"/>
            <a:ext cx="4241260" cy="972766"/>
          </a:xfrm>
          <a:custGeom>
            <a:avLst/>
            <a:gdLst>
              <a:gd name="connsiteX0" fmla="*/ 0 w 4241260"/>
              <a:gd name="connsiteY0" fmla="*/ 0 h 972766"/>
              <a:gd name="connsiteX1" fmla="*/ 1313234 w 4241260"/>
              <a:gd name="connsiteY1" fmla="*/ 758757 h 972766"/>
              <a:gd name="connsiteX2" fmla="*/ 4241260 w 4241260"/>
              <a:gd name="connsiteY2" fmla="*/ 972766 h 97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41260" h="972766">
                <a:moveTo>
                  <a:pt x="0" y="0"/>
                </a:moveTo>
                <a:cubicBezTo>
                  <a:pt x="303178" y="298314"/>
                  <a:pt x="606357" y="596629"/>
                  <a:pt x="1313234" y="758757"/>
                </a:cubicBezTo>
                <a:cubicBezTo>
                  <a:pt x="2020111" y="920885"/>
                  <a:pt x="3130685" y="946825"/>
                  <a:pt x="4241260" y="972766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7F47D5-3269-46A1-967D-B178B247AA41}"/>
              </a:ext>
            </a:extLst>
          </p:cNvPr>
          <p:cNvSpPr txBox="1"/>
          <p:nvPr/>
        </p:nvSpPr>
        <p:spPr>
          <a:xfrm>
            <a:off x="8336604" y="3963414"/>
            <a:ext cx="109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초기화</a:t>
            </a:r>
          </a:p>
        </p:txBody>
      </p:sp>
    </p:spTree>
    <p:extLst>
      <p:ext uri="{BB962C8B-B14F-4D97-AF65-F5344CB8AC3E}">
        <p14:creationId xmlns:p14="http://schemas.microsoft.com/office/powerpoint/2010/main" val="2249971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1B9F28-A662-416B-BBC6-39C5B0C5B4EE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12804-F75C-4223-A396-14E7CCC31F4F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2316-0987-4900-8188-32417EF32792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4EE588-397E-45E1-8C45-13EE642C0960}"/>
              </a:ext>
            </a:extLst>
          </p:cNvPr>
          <p:cNvGrpSpPr/>
          <p:nvPr/>
        </p:nvGrpSpPr>
        <p:grpSpPr>
          <a:xfrm>
            <a:off x="1188881" y="351819"/>
            <a:ext cx="4565673" cy="691207"/>
            <a:chOff x="1188881" y="351819"/>
            <a:chExt cx="4565673" cy="6912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B5237B-9EFE-44F1-9644-6753CD4DFF8E}"/>
                </a:ext>
              </a:extLst>
            </p:cNvPr>
            <p:cNvSpPr txBox="1"/>
            <p:nvPr/>
          </p:nvSpPr>
          <p:spPr>
            <a:xfrm>
              <a:off x="1188881" y="351819"/>
              <a:ext cx="893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Flow chart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AE6C9B-74CD-436C-91B6-5359E2E14095}"/>
                </a:ext>
              </a:extLst>
            </p:cNvPr>
            <p:cNvSpPr txBox="1"/>
            <p:nvPr/>
          </p:nvSpPr>
          <p:spPr>
            <a:xfrm>
              <a:off x="1188881" y="581361"/>
              <a:ext cx="45656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/>
                <a:t>Flow Chart related Game Select</a:t>
              </a:r>
              <a:endParaRPr lang="ko-KR" altLang="en-US" sz="2400" dirty="0"/>
            </a:p>
          </p:txBody>
        </p:sp>
      </p:grpSp>
      <p:sp>
        <p:nvSpPr>
          <p:cNvPr id="2" name="순서도: 데이터 1">
            <a:extLst>
              <a:ext uri="{FF2B5EF4-FFF2-40B4-BE49-F238E27FC236}">
                <a16:creationId xmlns:a16="http://schemas.microsoft.com/office/drawing/2014/main" id="{49C90CB8-DA5D-434C-9927-F3BD245462C4}"/>
              </a:ext>
            </a:extLst>
          </p:cNvPr>
          <p:cNvSpPr/>
          <p:nvPr/>
        </p:nvSpPr>
        <p:spPr>
          <a:xfrm>
            <a:off x="1606784" y="1814519"/>
            <a:ext cx="1709586" cy="461666"/>
          </a:xfrm>
          <a:prstGeom prst="flowChartInputOutpu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게임 추가</a:t>
            </a:r>
          </a:p>
        </p:txBody>
      </p:sp>
      <p:sp>
        <p:nvSpPr>
          <p:cNvPr id="3" name="순서도: 판단 2">
            <a:extLst>
              <a:ext uri="{FF2B5EF4-FFF2-40B4-BE49-F238E27FC236}">
                <a16:creationId xmlns:a16="http://schemas.microsoft.com/office/drawing/2014/main" id="{410C62FE-0792-45BC-97D7-577E7FDCE307}"/>
              </a:ext>
            </a:extLst>
          </p:cNvPr>
          <p:cNvSpPr/>
          <p:nvPr/>
        </p:nvSpPr>
        <p:spPr>
          <a:xfrm>
            <a:off x="985814" y="2584421"/>
            <a:ext cx="2951527" cy="940672"/>
          </a:xfrm>
          <a:prstGeom prst="flowChartDecision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/>
              <a:t>견적 추가 버튼을 눌렀는가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FE40EB-64D1-4D0D-9C4A-943819F1E5B6}"/>
              </a:ext>
            </a:extLst>
          </p:cNvPr>
          <p:cNvSpPr/>
          <p:nvPr/>
        </p:nvSpPr>
        <p:spPr>
          <a:xfrm>
            <a:off x="1479887" y="3849424"/>
            <a:ext cx="1963380" cy="94066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권장 사양 성능 이상의 모든 부품 출력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8B84A5-BDBD-471D-A426-AF1B3B711AA4}"/>
              </a:ext>
            </a:extLst>
          </p:cNvPr>
          <p:cNvSpPr/>
          <p:nvPr/>
        </p:nvSpPr>
        <p:spPr>
          <a:xfrm>
            <a:off x="8357652" y="5205831"/>
            <a:ext cx="2745542" cy="104908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인기 순으로 가중치를 둔 확률을 이용하여 </a:t>
            </a:r>
            <a:r>
              <a:rPr lang="en-US" altLang="ko-KR" sz="1400" dirty="0"/>
              <a:t>Mainboard, VGA, RAM, SSD, HDD </a:t>
            </a:r>
            <a:r>
              <a:rPr lang="ko-KR" altLang="en-US" sz="1400" dirty="0"/>
              <a:t>선택</a:t>
            </a:r>
            <a:endParaRPr lang="en-US" altLang="ko-KR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1030AC-915C-4C06-B3A4-E63FA30C8BF1}"/>
              </a:ext>
            </a:extLst>
          </p:cNvPr>
          <p:cNvSpPr/>
          <p:nvPr/>
        </p:nvSpPr>
        <p:spPr>
          <a:xfrm>
            <a:off x="1088806" y="5187042"/>
            <a:ext cx="2745541" cy="1089597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인기 순으로 가중치를 둔 확률을 이용하여 </a:t>
            </a:r>
            <a:r>
              <a:rPr lang="en-US" altLang="ko-KR" sz="1400" dirty="0"/>
              <a:t>CPU </a:t>
            </a:r>
            <a:r>
              <a:rPr lang="ko-KR" altLang="en-US" sz="1400" dirty="0"/>
              <a:t>선택</a:t>
            </a:r>
            <a:endParaRPr lang="en-US" altLang="ko-KR" sz="1400" dirty="0"/>
          </a:p>
          <a:p>
            <a:pPr algn="ctr"/>
            <a:r>
              <a:rPr lang="en-US" altLang="ko-KR" sz="1400" dirty="0"/>
              <a:t>(Geometry R.V. </a:t>
            </a:r>
            <a:r>
              <a:rPr lang="en-US" altLang="ko-KR" sz="1400" dirty="0" err="1"/>
              <a:t>Pmf</a:t>
            </a:r>
            <a:r>
              <a:rPr lang="en-US" altLang="ko-KR" sz="1400" dirty="0"/>
              <a:t> </a:t>
            </a:r>
            <a:r>
              <a:rPr lang="ko-KR" altLang="en-US" sz="1400" dirty="0"/>
              <a:t>이용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3A2050-A62B-4A91-B56F-F310CF38C7BF}"/>
              </a:ext>
            </a:extLst>
          </p:cNvPr>
          <p:cNvSpPr/>
          <p:nvPr/>
        </p:nvSpPr>
        <p:spPr>
          <a:xfrm>
            <a:off x="4665115" y="5207297"/>
            <a:ext cx="2861769" cy="1049086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/>
              <a:t>CPU</a:t>
            </a:r>
            <a:r>
              <a:rPr lang="ko-KR" altLang="en-US" sz="1400" dirty="0"/>
              <a:t>가 호환되는 메인보드 추출 </a:t>
            </a:r>
            <a:r>
              <a:rPr lang="en-US" altLang="ko-KR" sz="1400" dirty="0"/>
              <a:t>(Socket </a:t>
            </a:r>
            <a:r>
              <a:rPr lang="ko-KR" altLang="en-US" sz="1400" dirty="0"/>
              <a:t>호환성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DCC5FD-8959-47CF-843B-36005DB7FE1F}"/>
              </a:ext>
            </a:extLst>
          </p:cNvPr>
          <p:cNvSpPr/>
          <p:nvPr/>
        </p:nvSpPr>
        <p:spPr>
          <a:xfrm>
            <a:off x="8357652" y="3741008"/>
            <a:ext cx="2745542" cy="104908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선택한 부품들의 총 전력 소비량의 </a:t>
            </a:r>
            <a:r>
              <a:rPr lang="en-US" altLang="ko-KR" sz="1400" dirty="0"/>
              <a:t>+100 </a:t>
            </a:r>
            <a:r>
              <a:rPr lang="ko-KR" altLang="en-US" sz="1400" dirty="0"/>
              <a:t>이상 </a:t>
            </a:r>
            <a:r>
              <a:rPr lang="en-US" altLang="ko-KR" sz="1400" dirty="0"/>
              <a:t>+200 </a:t>
            </a:r>
            <a:r>
              <a:rPr lang="ko-KR" altLang="en-US" sz="1400" dirty="0"/>
              <a:t>이하인 </a:t>
            </a:r>
            <a:r>
              <a:rPr lang="en-US" altLang="ko-KR" sz="1400" dirty="0" err="1"/>
              <a:t>PowerSupply</a:t>
            </a:r>
            <a:r>
              <a:rPr lang="en-US" altLang="ko-KR" sz="1400" dirty="0"/>
              <a:t> </a:t>
            </a:r>
            <a:r>
              <a:rPr lang="ko-KR" altLang="en-US" sz="1400" dirty="0"/>
              <a:t>추출</a:t>
            </a:r>
            <a:endParaRPr lang="en-US" altLang="ko-KR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A16FB2-2B73-4002-B99B-18CB58E65AD8}"/>
              </a:ext>
            </a:extLst>
          </p:cNvPr>
          <p:cNvSpPr/>
          <p:nvPr/>
        </p:nvSpPr>
        <p:spPr>
          <a:xfrm>
            <a:off x="8357652" y="2276185"/>
            <a:ext cx="2745542" cy="104908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인기 순으로 가중치를 둔 확률을 이용하여 </a:t>
            </a:r>
            <a:r>
              <a:rPr lang="en-US" altLang="ko-KR" sz="1400" dirty="0" err="1"/>
              <a:t>PowerSupply</a:t>
            </a:r>
            <a:r>
              <a:rPr lang="en-US" altLang="ko-KR" sz="1400" dirty="0"/>
              <a:t> </a:t>
            </a:r>
            <a:r>
              <a:rPr lang="ko-KR" altLang="en-US" sz="1400" dirty="0"/>
              <a:t>선택</a:t>
            </a:r>
            <a:endParaRPr lang="en-US" altLang="ko-KR" sz="1400" dirty="0"/>
          </a:p>
        </p:txBody>
      </p:sp>
      <p:sp>
        <p:nvSpPr>
          <p:cNvPr id="16" name="순서도: 판단 15">
            <a:extLst>
              <a:ext uri="{FF2B5EF4-FFF2-40B4-BE49-F238E27FC236}">
                <a16:creationId xmlns:a16="http://schemas.microsoft.com/office/drawing/2014/main" id="{EC67E706-2801-4F18-A91A-6354494CEAF1}"/>
              </a:ext>
            </a:extLst>
          </p:cNvPr>
          <p:cNvSpPr/>
          <p:nvPr/>
        </p:nvSpPr>
        <p:spPr>
          <a:xfrm>
            <a:off x="4508341" y="2330391"/>
            <a:ext cx="2951527" cy="940672"/>
          </a:xfrm>
          <a:prstGeom prst="flowChartDecision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/>
              <a:t>견적 </a:t>
            </a:r>
            <a:r>
              <a:rPr lang="ko-KR" altLang="en-US" sz="1400" dirty="0" err="1"/>
              <a:t>재추천</a:t>
            </a:r>
            <a:r>
              <a:rPr lang="ko-KR" altLang="en-US" sz="1400" dirty="0"/>
              <a:t> 버튼을 눌렀는가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65748E3-D0EB-4233-8064-3DAF4C6ED59C}"/>
              </a:ext>
            </a:extLst>
          </p:cNvPr>
          <p:cNvCxnSpPr>
            <a:stCxn id="2" idx="4"/>
            <a:endCxn id="3" idx="0"/>
          </p:cNvCxnSpPr>
          <p:nvPr/>
        </p:nvCxnSpPr>
        <p:spPr>
          <a:xfrm>
            <a:off x="2461577" y="2276185"/>
            <a:ext cx="1" cy="308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5117CA8-9026-43F5-AAC3-49C471463812}"/>
              </a:ext>
            </a:extLst>
          </p:cNvPr>
          <p:cNvCxnSpPr/>
          <p:nvPr/>
        </p:nvCxnSpPr>
        <p:spPr>
          <a:xfrm>
            <a:off x="2465542" y="3529352"/>
            <a:ext cx="1" cy="308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0B8064C-708C-4F7C-B074-9B09F96BF67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2461577" y="4790093"/>
            <a:ext cx="0" cy="396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2E6DEA0-010F-4DBC-9D87-0BD1C53C2FEF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3834347" y="5731840"/>
            <a:ext cx="83076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C85BB45-7F4B-4763-8978-CF75B3D205F3}"/>
              </a:ext>
            </a:extLst>
          </p:cNvPr>
          <p:cNvCxnSpPr>
            <a:stCxn id="13" idx="3"/>
            <a:endCxn id="11" idx="1"/>
          </p:cNvCxnSpPr>
          <p:nvPr/>
        </p:nvCxnSpPr>
        <p:spPr>
          <a:xfrm flipV="1">
            <a:off x="7526884" y="5730374"/>
            <a:ext cx="830768" cy="1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7CE2426-A962-4852-94D8-A3F4BFA3DA1F}"/>
              </a:ext>
            </a:extLst>
          </p:cNvPr>
          <p:cNvCxnSpPr>
            <a:stCxn id="11" idx="0"/>
            <a:endCxn id="14" idx="2"/>
          </p:cNvCxnSpPr>
          <p:nvPr/>
        </p:nvCxnSpPr>
        <p:spPr>
          <a:xfrm flipV="1">
            <a:off x="9730423" y="4790093"/>
            <a:ext cx="0" cy="41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C992101-6F95-46B6-9DC5-1821CF6679FD}"/>
              </a:ext>
            </a:extLst>
          </p:cNvPr>
          <p:cNvCxnSpPr/>
          <p:nvPr/>
        </p:nvCxnSpPr>
        <p:spPr>
          <a:xfrm flipV="1">
            <a:off x="9730423" y="3325270"/>
            <a:ext cx="0" cy="41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B8BC4B4-F7DD-40EC-9302-A7A486B5A586}"/>
              </a:ext>
            </a:extLst>
          </p:cNvPr>
          <p:cNvCxnSpPr>
            <a:stCxn id="15" idx="1"/>
            <a:endCxn id="16" idx="3"/>
          </p:cNvCxnSpPr>
          <p:nvPr/>
        </p:nvCxnSpPr>
        <p:spPr>
          <a:xfrm flipH="1" flipV="1">
            <a:off x="7459868" y="2800727"/>
            <a:ext cx="8977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60C9DDBE-BEAE-479D-83C6-AF2749F4D335}"/>
              </a:ext>
            </a:extLst>
          </p:cNvPr>
          <p:cNvCxnSpPr>
            <a:cxnSpLocks/>
          </p:cNvCxnSpPr>
          <p:nvPr/>
        </p:nvCxnSpPr>
        <p:spPr>
          <a:xfrm rot="5400000">
            <a:off x="4039719" y="1692919"/>
            <a:ext cx="366240" cy="35225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4D28747-BA7E-48AC-83AD-C5C794EEC1B9}"/>
              </a:ext>
            </a:extLst>
          </p:cNvPr>
          <p:cNvCxnSpPr>
            <a:cxnSpLocks/>
          </p:cNvCxnSpPr>
          <p:nvPr/>
        </p:nvCxnSpPr>
        <p:spPr>
          <a:xfrm>
            <a:off x="2461575" y="1305674"/>
            <a:ext cx="0" cy="51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1ADEA0B5-1BBC-4C23-81A3-4F341E67C533}"/>
              </a:ext>
            </a:extLst>
          </p:cNvPr>
          <p:cNvCxnSpPr>
            <a:cxnSpLocks/>
          </p:cNvCxnSpPr>
          <p:nvPr/>
        </p:nvCxnSpPr>
        <p:spPr>
          <a:xfrm rot="16200000" flipV="1">
            <a:off x="2428535" y="1586271"/>
            <a:ext cx="1512575" cy="1446497"/>
          </a:xfrm>
          <a:prstGeom prst="bentConnector3">
            <a:avLst>
              <a:gd name="adj1" fmla="val 1005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250A011-6EEE-4D39-B506-33976375922C}"/>
              </a:ext>
            </a:extLst>
          </p:cNvPr>
          <p:cNvSpPr txBox="1"/>
          <p:nvPr/>
        </p:nvSpPr>
        <p:spPr>
          <a:xfrm>
            <a:off x="2012295" y="3495251"/>
            <a:ext cx="760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Yes</a:t>
            </a:r>
            <a:endParaRPr lang="ko-KR" alt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8FA145-093B-487D-93D0-2A0974DC29D7}"/>
              </a:ext>
            </a:extLst>
          </p:cNvPr>
          <p:cNvSpPr txBox="1"/>
          <p:nvPr/>
        </p:nvSpPr>
        <p:spPr>
          <a:xfrm>
            <a:off x="3869683" y="1983698"/>
            <a:ext cx="760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No</a:t>
            </a:r>
            <a:endParaRPr lang="ko-KR" altLang="en-US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3CBE2B-95CA-4817-B731-F0F9C34D568D}"/>
              </a:ext>
            </a:extLst>
          </p:cNvPr>
          <p:cNvSpPr txBox="1"/>
          <p:nvPr/>
        </p:nvSpPr>
        <p:spPr>
          <a:xfrm>
            <a:off x="3965999" y="3300295"/>
            <a:ext cx="760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Yes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09598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1B9F28-A662-416B-BBC6-39C5B0C5B4EE}"/>
              </a:ext>
            </a:extLst>
          </p:cNvPr>
          <p:cNvCxnSpPr/>
          <p:nvPr/>
        </p:nvCxnSpPr>
        <p:spPr>
          <a:xfrm>
            <a:off x="1188881" y="273124"/>
            <a:ext cx="10666421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12804-F75C-4223-A396-14E7CCC31F4F}"/>
              </a:ext>
            </a:extLst>
          </p:cNvPr>
          <p:cNvSpPr/>
          <p:nvPr/>
        </p:nvSpPr>
        <p:spPr>
          <a:xfrm>
            <a:off x="265814" y="244548"/>
            <a:ext cx="72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12316-0987-4900-8188-32417EF32792}"/>
              </a:ext>
            </a:extLst>
          </p:cNvPr>
          <p:cNvSpPr txBox="1"/>
          <p:nvPr/>
        </p:nvSpPr>
        <p:spPr>
          <a:xfrm>
            <a:off x="490138" y="323244"/>
            <a:ext cx="259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</a:rPr>
              <a:t>3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4EE588-397E-45E1-8C45-13EE642C0960}"/>
              </a:ext>
            </a:extLst>
          </p:cNvPr>
          <p:cNvGrpSpPr/>
          <p:nvPr/>
        </p:nvGrpSpPr>
        <p:grpSpPr>
          <a:xfrm>
            <a:off x="1188881" y="351819"/>
            <a:ext cx="4565673" cy="691207"/>
            <a:chOff x="1188881" y="351819"/>
            <a:chExt cx="4565673" cy="6912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B5237B-9EFE-44F1-9644-6753CD4DFF8E}"/>
                </a:ext>
              </a:extLst>
            </p:cNvPr>
            <p:cNvSpPr txBox="1"/>
            <p:nvPr/>
          </p:nvSpPr>
          <p:spPr>
            <a:xfrm>
              <a:off x="1188881" y="351819"/>
              <a:ext cx="893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Flow chart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AE6C9B-74CD-436C-91B6-5359E2E14095}"/>
                </a:ext>
              </a:extLst>
            </p:cNvPr>
            <p:cNvSpPr txBox="1"/>
            <p:nvPr/>
          </p:nvSpPr>
          <p:spPr>
            <a:xfrm>
              <a:off x="1188881" y="581361"/>
              <a:ext cx="45656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/>
                <a:t>Flow Chart related Game Select</a:t>
              </a:r>
              <a:endParaRPr lang="ko-KR" altLang="en-US" sz="2400" dirty="0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9CE5B6DE-42CC-4360-8039-0709C8676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38" y="1840379"/>
            <a:ext cx="5097868" cy="357657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43997C9-81A0-4088-B57B-F7EF898EC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122" y="1840379"/>
            <a:ext cx="5284740" cy="3576569"/>
          </a:xfrm>
          <a:prstGeom prst="rect">
            <a:avLst/>
          </a:prstGeom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62F3A53-AA2A-475B-AC8B-E6318063175B}"/>
              </a:ext>
            </a:extLst>
          </p:cNvPr>
          <p:cNvSpPr/>
          <p:nvPr/>
        </p:nvSpPr>
        <p:spPr>
          <a:xfrm>
            <a:off x="5754554" y="3217762"/>
            <a:ext cx="495775" cy="717625"/>
          </a:xfrm>
          <a:prstGeom prst="rightArrow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EC811717-A1EF-433A-B293-D8F2B3F96012}"/>
              </a:ext>
            </a:extLst>
          </p:cNvPr>
          <p:cNvSpPr/>
          <p:nvPr/>
        </p:nvSpPr>
        <p:spPr>
          <a:xfrm>
            <a:off x="2807786" y="3313590"/>
            <a:ext cx="592362" cy="230819"/>
          </a:xfrm>
          <a:prstGeom prst="flowChartAlternateProcess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475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89352" y="2285885"/>
            <a:ext cx="17235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b="1" dirty="0">
                <a:solidFill>
                  <a:schemeClr val="tx2"/>
                </a:solidFill>
              </a:rPr>
              <a:t>004</a:t>
            </a:r>
            <a:endParaRPr lang="ko-KR" altLang="en-US" sz="7200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4757" y="3555220"/>
            <a:ext cx="2741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spc="-150" dirty="0">
                <a:solidFill>
                  <a:schemeClr val="tx2"/>
                </a:solidFill>
                <a:latin typeface="+mn-ea"/>
              </a:rPr>
              <a:t>Q&amp;A</a:t>
            </a:r>
            <a:endParaRPr lang="ko-KR" altLang="en-US" sz="5400" spc="-15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9006" y="6505575"/>
            <a:ext cx="2242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accent6"/>
                </a:solidFill>
                <a:latin typeface="+mn-ea"/>
              </a:rPr>
              <a:t>Copyrightⓒ. Saebyeol Yu. All Rights Reserved.</a:t>
            </a:r>
            <a:endParaRPr lang="ko-KR" altLang="en-US" sz="800" dirty="0">
              <a:solidFill>
                <a:schemeClr val="accent6"/>
              </a:solidFill>
              <a:latin typeface="+mn-ea"/>
            </a:endParaRPr>
          </a:p>
        </p:txBody>
      </p:sp>
      <p:cxnSp>
        <p:nvCxnSpPr>
          <p:cNvPr id="18" name="직선 연결선 17"/>
          <p:cNvCxnSpPr>
            <a:cxnSpLocks/>
          </p:cNvCxnSpPr>
          <p:nvPr/>
        </p:nvCxnSpPr>
        <p:spPr>
          <a:xfrm>
            <a:off x="489352" y="3392488"/>
            <a:ext cx="553044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2" name="Picture 6" descr="q&amp;a iconì ëí ì´ë¯¸ì§ ê²ìê²°ê³¼">
            <a:extLst>
              <a:ext uri="{FF2B5EF4-FFF2-40B4-BE49-F238E27FC236}">
                <a16:creationId xmlns:a16="http://schemas.microsoft.com/office/drawing/2014/main" id="{6AD6AF95-74C5-42D0-8D46-6348C67B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382719"/>
            <a:ext cx="5392760" cy="375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808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 descr="엄지 올리기">
            <a:extLst>
              <a:ext uri="{FF2B5EF4-FFF2-40B4-BE49-F238E27FC236}">
                <a16:creationId xmlns:a16="http://schemas.microsoft.com/office/drawing/2014/main" id="{BD815949-7179-4D7B-8DBF-56DB51B8C6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0580" y="1488860"/>
            <a:ext cx="3906539" cy="3906539"/>
          </a:xfrm>
          <a:prstGeom prst="rect">
            <a:avLst/>
          </a:prstGeom>
        </p:spPr>
      </p:pic>
      <p:pic>
        <p:nvPicPr>
          <p:cNvPr id="5" name="그래픽 4" descr="엄지 올리기">
            <a:extLst>
              <a:ext uri="{FF2B5EF4-FFF2-40B4-BE49-F238E27FC236}">
                <a16:creationId xmlns:a16="http://schemas.microsoft.com/office/drawing/2014/main" id="{C23CFD2B-1FAD-4731-8F2D-21D54D1603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218" y="618544"/>
            <a:ext cx="3906539" cy="39065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CEB0B0-0B91-4EB8-B3AB-E0EA3F2ED325}"/>
              </a:ext>
            </a:extLst>
          </p:cNvPr>
          <p:cNvSpPr txBox="1"/>
          <p:nvPr/>
        </p:nvSpPr>
        <p:spPr>
          <a:xfrm>
            <a:off x="489352" y="2285885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00" b="1" dirty="0">
                <a:solidFill>
                  <a:schemeClr val="tx2"/>
                </a:solidFill>
              </a:rPr>
              <a:t>감사합니다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737954-BCD0-49B3-A484-0ABAEF59E36D}"/>
              </a:ext>
            </a:extLst>
          </p:cNvPr>
          <p:cNvCxnSpPr/>
          <p:nvPr/>
        </p:nvCxnSpPr>
        <p:spPr>
          <a:xfrm>
            <a:off x="489352" y="3392488"/>
            <a:ext cx="697470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187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065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ED636D"/>
      </a:accent1>
      <a:accent2>
        <a:srgbClr val="FA7D87"/>
      </a:accent2>
      <a:accent3>
        <a:srgbClr val="F8BAA1"/>
      </a:accent3>
      <a:accent4>
        <a:srgbClr val="1097D0"/>
      </a:accent4>
      <a:accent5>
        <a:srgbClr val="016A96"/>
      </a:accent5>
      <a:accent6>
        <a:srgbClr val="898F8D"/>
      </a:accent6>
      <a:hlink>
        <a:srgbClr val="757070"/>
      </a:hlink>
      <a:folHlink>
        <a:srgbClr val="757070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70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1303</TotalTime>
  <Words>480</Words>
  <Application>Microsoft Office PowerPoint</Application>
  <PresentationFormat>와이드스크린</PresentationFormat>
  <Paragraphs>141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나눔스퀘어라운드 Regular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김성민</cp:lastModifiedBy>
  <cp:revision>197</cp:revision>
  <dcterms:created xsi:type="dcterms:W3CDTF">2015-01-21T11:35:38Z</dcterms:created>
  <dcterms:modified xsi:type="dcterms:W3CDTF">2018-12-01T11:07:22Z</dcterms:modified>
</cp:coreProperties>
</file>